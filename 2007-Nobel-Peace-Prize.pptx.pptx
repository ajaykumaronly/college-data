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Agency FB" panose="020B0503020202020204" pitchFamily="34" charset="0"/>
      <p:regular r:id="rId14"/>
      <p:bold r:id="rId15"/>
    </p:embeddedFont>
    <p:embeddedFont>
      <p:font typeface="Algerian" panose="04020705040A02060702" pitchFamily="82" charset="0"/>
      <p:regular r:id="rId16"/>
    </p:embeddedFont>
    <p:embeddedFont>
      <p:font typeface="DM Sans" pitchFamily="2" charset="0"/>
      <p:regular r:id="rId17"/>
    </p:embeddedFont>
    <p:embeddedFont>
      <p:font typeface="Inter" panose="020B0604020202020204" charset="0"/>
      <p:regular r:id="rId18"/>
    </p:embeddedFont>
    <p:embeddedFont>
      <p:font typeface="Inter Italics"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610"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29.09.2025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11213"/>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D3133"/>
            </a:solidFill>
          </p:spPr>
        </p:sp>
      </p:grpSp>
      <p:grpSp>
        <p:nvGrpSpPr>
          <p:cNvPr id="6" name="Group 6"/>
          <p:cNvGrpSpPr>
            <a:grpSpLocks noChangeAspect="1"/>
          </p:cNvGrpSpPr>
          <p:nvPr/>
        </p:nvGrpSpPr>
        <p:grpSpPr>
          <a:xfrm>
            <a:off x="16049019" y="9686925"/>
            <a:ext cx="2153256" cy="514350"/>
            <a:chOff x="0" y="0"/>
            <a:chExt cx="2871008" cy="685800"/>
          </a:xfrm>
        </p:grpSpPr>
        <p:sp>
          <p:nvSpPr>
            <p:cNvPr id="7" name="Freeform 7" descr="preencoded.png">
              <a:hlinkClick r:id="rId3" tooltip="https://gamma.app/?utm_source=made-with-gamma"/>
            </p:cNvPr>
            <p:cNvSpPr/>
            <p:nvPr/>
          </p:nvSpPr>
          <p:spPr>
            <a:xfrm>
              <a:off x="0" y="0"/>
              <a:ext cx="2870962" cy="685800"/>
            </a:xfrm>
            <a:custGeom>
              <a:avLst/>
              <a:gdLst/>
              <a:ahLst/>
              <a:cxnLst/>
              <a:rect l="l" t="t" r="r" b="b"/>
              <a:pathLst>
                <a:path w="2870962" h="685800">
                  <a:moveTo>
                    <a:pt x="0" y="0"/>
                  </a:moveTo>
                  <a:lnTo>
                    <a:pt x="2870962" y="0"/>
                  </a:lnTo>
                  <a:lnTo>
                    <a:pt x="2870962" y="685800"/>
                  </a:lnTo>
                  <a:lnTo>
                    <a:pt x="0" y="685800"/>
                  </a:lnTo>
                  <a:lnTo>
                    <a:pt x="0" y="0"/>
                  </a:lnTo>
                  <a:close/>
                </a:path>
              </a:pathLst>
            </a:custGeom>
            <a:blipFill>
              <a:blip r:embed="rId4"/>
              <a:stretch>
                <a:fillRect r="-1"/>
              </a:stretch>
            </a:blipFill>
          </p:spPr>
        </p:sp>
      </p:grpSp>
      <p:grpSp>
        <p:nvGrpSpPr>
          <p:cNvPr id="8" name="Group 8"/>
          <p:cNvGrpSpPr>
            <a:grpSpLocks noChangeAspect="1"/>
          </p:cNvGrpSpPr>
          <p:nvPr/>
        </p:nvGrpSpPr>
        <p:grpSpPr>
          <a:xfrm>
            <a:off x="11430000" y="0"/>
            <a:ext cx="6858000" cy="10287000"/>
            <a:chOff x="0" y="0"/>
            <a:chExt cx="9144000" cy="13716000"/>
          </a:xfrm>
        </p:grpSpPr>
        <p:sp>
          <p:nvSpPr>
            <p:cNvPr id="9" name="Freeform 9"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5"/>
              <a:stretch>
                <a:fillRect/>
              </a:stretch>
            </a:blipFill>
          </p:spPr>
        </p:sp>
      </p:grpSp>
      <p:sp>
        <p:nvSpPr>
          <p:cNvPr id="10" name="TextBox 10"/>
          <p:cNvSpPr txBox="1"/>
          <p:nvPr/>
        </p:nvSpPr>
        <p:spPr>
          <a:xfrm>
            <a:off x="992238" y="2352972"/>
            <a:ext cx="7884616" cy="905024"/>
          </a:xfrm>
          <a:prstGeom prst="rect">
            <a:avLst/>
          </a:prstGeom>
        </p:spPr>
        <p:txBody>
          <a:bodyPr lIns="0" tIns="0" rIns="0" bIns="0" rtlCol="0" anchor="t">
            <a:spAutoFit/>
          </a:bodyPr>
          <a:lstStyle/>
          <a:p>
            <a:pPr algn="l">
              <a:lnSpc>
                <a:spcPts val="6937"/>
              </a:lnSpc>
            </a:pPr>
            <a:r>
              <a:rPr lang="en-US" sz="5562">
                <a:solidFill>
                  <a:srgbClr val="F7F7F8"/>
                </a:solidFill>
                <a:latin typeface="DM Sans"/>
                <a:ea typeface="DM Sans"/>
                <a:cs typeface="DM Sans"/>
                <a:sym typeface="DM Sans"/>
              </a:rPr>
              <a:t>2007 Nobel Peace Prize</a:t>
            </a:r>
          </a:p>
        </p:txBody>
      </p:sp>
      <p:sp>
        <p:nvSpPr>
          <p:cNvPr id="11" name="TextBox 11"/>
          <p:cNvSpPr txBox="1"/>
          <p:nvPr/>
        </p:nvSpPr>
        <p:spPr>
          <a:xfrm>
            <a:off x="992238" y="3626049"/>
            <a:ext cx="9445526" cy="2502694"/>
          </a:xfrm>
          <a:prstGeom prst="rect">
            <a:avLst/>
          </a:prstGeom>
        </p:spPr>
        <p:txBody>
          <a:bodyPr lIns="0" tIns="0" rIns="0" bIns="0" rtlCol="0" anchor="t">
            <a:spAutoFit/>
          </a:bodyPr>
          <a:lstStyle/>
          <a:p>
            <a:pPr algn="l">
              <a:lnSpc>
                <a:spcPts val="9624"/>
              </a:lnSpc>
            </a:pPr>
            <a:r>
              <a:rPr lang="en-US" sz="7499">
                <a:solidFill>
                  <a:srgbClr val="F7F7F8"/>
                </a:solidFill>
                <a:latin typeface="DM Sans"/>
                <a:ea typeface="DM Sans"/>
                <a:cs typeface="DM Sans"/>
                <a:sym typeface="DM Sans"/>
              </a:rPr>
              <a:t>Climate Change as a Global Peace Issue</a:t>
            </a:r>
          </a:p>
        </p:txBody>
      </p:sp>
      <p:sp>
        <p:nvSpPr>
          <p:cNvPr id="12" name="TextBox 12"/>
          <p:cNvSpPr txBox="1"/>
          <p:nvPr/>
        </p:nvSpPr>
        <p:spPr>
          <a:xfrm>
            <a:off x="992238" y="6468219"/>
            <a:ext cx="9445526" cy="1446610"/>
          </a:xfrm>
          <a:prstGeom prst="rect">
            <a:avLst/>
          </a:prstGeom>
        </p:spPr>
        <p:txBody>
          <a:bodyPr lIns="0" tIns="0" rIns="0" bIns="0" rtlCol="0" anchor="t">
            <a:spAutoFit/>
          </a:bodyPr>
          <a:lstStyle/>
          <a:p>
            <a:pPr algn="l">
              <a:lnSpc>
                <a:spcPts val="3562"/>
              </a:lnSpc>
            </a:pPr>
            <a:r>
              <a:rPr lang="en-US" sz="2187">
                <a:solidFill>
                  <a:srgbClr val="D6D9D7"/>
                </a:solidFill>
                <a:latin typeface="Inter"/>
                <a:ea typeface="Inter"/>
                <a:cs typeface="Inter"/>
                <a:sym typeface="Inter"/>
              </a:rPr>
              <a:t>Recognizing the groundbreaking contributions of the IPCC and Al Gore in raising awareness about humanity's greatest environmental challenge.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11213"/>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D3133"/>
            </a:solidFill>
          </p:spPr>
        </p:sp>
      </p:grpSp>
      <p:sp>
        <p:nvSpPr>
          <p:cNvPr id="6" name="TextBox 6"/>
          <p:cNvSpPr txBox="1"/>
          <p:nvPr/>
        </p:nvSpPr>
        <p:spPr>
          <a:xfrm>
            <a:off x="902047" y="680145"/>
            <a:ext cx="6692801" cy="834033"/>
          </a:xfrm>
          <a:prstGeom prst="rect">
            <a:avLst/>
          </a:prstGeom>
        </p:spPr>
        <p:txBody>
          <a:bodyPr lIns="0" tIns="0" rIns="0" bIns="0" rtlCol="0" anchor="t">
            <a:spAutoFit/>
          </a:bodyPr>
          <a:lstStyle/>
          <a:p>
            <a:pPr algn="l">
              <a:lnSpc>
                <a:spcPts val="6312"/>
              </a:lnSpc>
            </a:pPr>
            <a:r>
              <a:rPr lang="en-US" sz="5062">
                <a:solidFill>
                  <a:srgbClr val="F7F7F8"/>
                </a:solidFill>
                <a:latin typeface="DM Sans"/>
                <a:ea typeface="DM Sans"/>
                <a:cs typeface="DM Sans"/>
                <a:sym typeface="DM Sans"/>
              </a:rPr>
              <a:t>A Historic Recognition</a:t>
            </a:r>
          </a:p>
        </p:txBody>
      </p:sp>
      <p:sp>
        <p:nvSpPr>
          <p:cNvPr id="7" name="TextBox 7"/>
          <p:cNvSpPr txBox="1"/>
          <p:nvPr/>
        </p:nvSpPr>
        <p:spPr>
          <a:xfrm>
            <a:off x="902047" y="2139255"/>
            <a:ext cx="5909816" cy="502295"/>
          </a:xfrm>
          <a:prstGeom prst="rect">
            <a:avLst/>
          </a:prstGeom>
        </p:spPr>
        <p:txBody>
          <a:bodyPr lIns="0" tIns="0" rIns="0" bIns="0" rtlCol="0" anchor="t">
            <a:spAutoFit/>
          </a:bodyPr>
          <a:lstStyle/>
          <a:p>
            <a:pPr algn="l">
              <a:lnSpc>
                <a:spcPts val="3749"/>
              </a:lnSpc>
            </a:pPr>
            <a:r>
              <a:rPr lang="en-US" sz="3000">
                <a:solidFill>
                  <a:srgbClr val="F7F7F8"/>
                </a:solidFill>
                <a:latin typeface="DM Sans"/>
                <a:ea typeface="DM Sans"/>
                <a:cs typeface="DM Sans"/>
                <a:sym typeface="DM Sans"/>
              </a:rPr>
              <a:t>The Nobel Committee's Decision</a:t>
            </a:r>
          </a:p>
        </p:txBody>
      </p:sp>
      <p:sp>
        <p:nvSpPr>
          <p:cNvPr id="8" name="TextBox 8"/>
          <p:cNvSpPr txBox="1"/>
          <p:nvPr/>
        </p:nvSpPr>
        <p:spPr>
          <a:xfrm>
            <a:off x="902047" y="2822972"/>
            <a:ext cx="7927627" cy="1725811"/>
          </a:xfrm>
          <a:prstGeom prst="rect">
            <a:avLst/>
          </a:prstGeom>
        </p:spPr>
        <p:txBody>
          <a:bodyPr lIns="0" tIns="0" rIns="0" bIns="0" rtlCol="0" anchor="t">
            <a:spAutoFit/>
          </a:bodyPr>
          <a:lstStyle/>
          <a:p>
            <a:pPr algn="l">
              <a:lnSpc>
                <a:spcPts val="3187"/>
              </a:lnSpc>
            </a:pPr>
            <a:r>
              <a:rPr lang="en-US" sz="2000">
                <a:solidFill>
                  <a:srgbClr val="D6D9D7"/>
                </a:solidFill>
                <a:latin typeface="Inter"/>
                <a:ea typeface="Inter"/>
                <a:cs typeface="Inter"/>
                <a:sym typeface="Inter"/>
              </a:rPr>
              <a:t>In October 2007, the Norwegian Nobel Committee made history by awarding the Peace Prize to climate science. For the first time, environmental threats were recognised as fundamental threats to global peace and security.</a:t>
            </a:r>
          </a:p>
        </p:txBody>
      </p:sp>
      <p:sp>
        <p:nvSpPr>
          <p:cNvPr id="9" name="TextBox 9"/>
          <p:cNvSpPr txBox="1"/>
          <p:nvPr/>
        </p:nvSpPr>
        <p:spPr>
          <a:xfrm>
            <a:off x="902047" y="4704458"/>
            <a:ext cx="7927627" cy="1313409"/>
          </a:xfrm>
          <a:prstGeom prst="rect">
            <a:avLst/>
          </a:prstGeom>
        </p:spPr>
        <p:txBody>
          <a:bodyPr lIns="0" tIns="0" rIns="0" bIns="0" rtlCol="0" anchor="t">
            <a:spAutoFit/>
          </a:bodyPr>
          <a:lstStyle/>
          <a:p>
            <a:pPr algn="l">
              <a:lnSpc>
                <a:spcPts val="3187"/>
              </a:lnSpc>
            </a:pPr>
            <a:r>
              <a:rPr lang="en-US" sz="2000">
                <a:solidFill>
                  <a:srgbClr val="D6D9D7"/>
                </a:solidFill>
                <a:latin typeface="Inter"/>
                <a:ea typeface="Inter"/>
                <a:cs typeface="Inter"/>
                <a:sym typeface="Inter"/>
              </a:rPr>
              <a:t>This marked a pivotal moment when climate change moved from scientific journals to the world's most prestigious peace platform.</a:t>
            </a:r>
          </a:p>
        </p:txBody>
      </p:sp>
      <p:grpSp>
        <p:nvGrpSpPr>
          <p:cNvPr id="10" name="Group 10"/>
          <p:cNvGrpSpPr>
            <a:grpSpLocks noChangeAspect="1"/>
          </p:cNvGrpSpPr>
          <p:nvPr/>
        </p:nvGrpSpPr>
        <p:grpSpPr>
          <a:xfrm>
            <a:off x="9467850" y="2190601"/>
            <a:ext cx="7927627" cy="7927628"/>
            <a:chOff x="0" y="0"/>
            <a:chExt cx="10570170" cy="10570170"/>
          </a:xfrm>
        </p:grpSpPr>
        <p:sp>
          <p:nvSpPr>
            <p:cNvPr id="11" name="Freeform 11" descr="preencoded.png"/>
            <p:cNvSpPr/>
            <p:nvPr/>
          </p:nvSpPr>
          <p:spPr>
            <a:xfrm>
              <a:off x="0" y="0"/>
              <a:ext cx="10570210" cy="10570210"/>
            </a:xfrm>
            <a:custGeom>
              <a:avLst/>
              <a:gdLst/>
              <a:ahLst/>
              <a:cxnLst/>
              <a:rect l="l" t="t" r="r" b="b"/>
              <a:pathLst>
                <a:path w="10570210" h="10570210">
                  <a:moveTo>
                    <a:pt x="0" y="0"/>
                  </a:moveTo>
                  <a:lnTo>
                    <a:pt x="10570210" y="0"/>
                  </a:lnTo>
                  <a:lnTo>
                    <a:pt x="10570210" y="10570210"/>
                  </a:lnTo>
                  <a:lnTo>
                    <a:pt x="0" y="10570210"/>
                  </a:lnTo>
                  <a:lnTo>
                    <a:pt x="0" y="0"/>
                  </a:lnTo>
                  <a:close/>
                </a:path>
              </a:pathLst>
            </a:custGeom>
            <a:blipFill>
              <a:blip r:embed="rId3"/>
              <a:stretch>
                <a:fillRect/>
              </a:stretch>
            </a:blipFill>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11213"/>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D3133"/>
            </a:solidFill>
          </p:spPr>
        </p:sp>
      </p:grpSp>
      <p:grpSp>
        <p:nvGrpSpPr>
          <p:cNvPr id="6" name="Group 6"/>
          <p:cNvGrpSpPr>
            <a:grpSpLocks noChangeAspect="1"/>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3"/>
              <a:stretch>
                <a:fillRect/>
              </a:stretch>
            </a:blipFill>
          </p:spPr>
        </p:sp>
      </p:grpSp>
      <p:sp>
        <p:nvSpPr>
          <p:cNvPr id="8" name="TextBox 8"/>
          <p:cNvSpPr txBox="1"/>
          <p:nvPr/>
        </p:nvSpPr>
        <p:spPr>
          <a:xfrm>
            <a:off x="7850237" y="2012900"/>
            <a:ext cx="7088237" cy="905024"/>
          </a:xfrm>
          <a:prstGeom prst="rect">
            <a:avLst/>
          </a:prstGeom>
        </p:spPr>
        <p:txBody>
          <a:bodyPr lIns="0" tIns="0" rIns="0" bIns="0" rtlCol="0" anchor="t">
            <a:spAutoFit/>
          </a:bodyPr>
          <a:lstStyle/>
          <a:p>
            <a:pPr algn="l">
              <a:lnSpc>
                <a:spcPts val="6937"/>
              </a:lnSpc>
            </a:pPr>
            <a:r>
              <a:rPr lang="en-US" sz="5562">
                <a:solidFill>
                  <a:srgbClr val="F7F7F8"/>
                </a:solidFill>
                <a:latin typeface="DM Sans"/>
                <a:ea typeface="DM Sans"/>
                <a:cs typeface="DM Sans"/>
                <a:sym typeface="DM Sans"/>
              </a:rPr>
              <a:t>The Dual Recipients</a:t>
            </a:r>
          </a:p>
        </p:txBody>
      </p:sp>
      <p:grpSp>
        <p:nvGrpSpPr>
          <p:cNvPr id="9" name="Group 9"/>
          <p:cNvGrpSpPr/>
          <p:nvPr/>
        </p:nvGrpSpPr>
        <p:grpSpPr>
          <a:xfrm>
            <a:off x="7850237" y="3343126"/>
            <a:ext cx="9445526" cy="2540943"/>
            <a:chOff x="0" y="0"/>
            <a:chExt cx="12594035" cy="3387923"/>
          </a:xfrm>
        </p:grpSpPr>
        <p:sp>
          <p:nvSpPr>
            <p:cNvPr id="10" name="Freeform 10"/>
            <p:cNvSpPr/>
            <p:nvPr/>
          </p:nvSpPr>
          <p:spPr>
            <a:xfrm>
              <a:off x="0" y="0"/>
              <a:ext cx="12594082" cy="3387979"/>
            </a:xfrm>
            <a:custGeom>
              <a:avLst/>
              <a:gdLst/>
              <a:ahLst/>
              <a:cxnLst/>
              <a:rect l="l" t="t" r="r" b="b"/>
              <a:pathLst>
                <a:path w="12594082" h="3387979">
                  <a:moveTo>
                    <a:pt x="0" y="56769"/>
                  </a:moveTo>
                  <a:cubicBezTo>
                    <a:pt x="0" y="25400"/>
                    <a:pt x="25400" y="0"/>
                    <a:pt x="56769" y="0"/>
                  </a:cubicBezTo>
                  <a:lnTo>
                    <a:pt x="12537313" y="0"/>
                  </a:lnTo>
                  <a:cubicBezTo>
                    <a:pt x="12568682" y="0"/>
                    <a:pt x="12594082" y="25400"/>
                    <a:pt x="12594082" y="56769"/>
                  </a:cubicBezTo>
                  <a:lnTo>
                    <a:pt x="12594082" y="3331210"/>
                  </a:lnTo>
                  <a:cubicBezTo>
                    <a:pt x="12594082" y="3362579"/>
                    <a:pt x="12568682" y="3387979"/>
                    <a:pt x="12537313" y="3387979"/>
                  </a:cubicBezTo>
                  <a:lnTo>
                    <a:pt x="56769" y="3387979"/>
                  </a:lnTo>
                  <a:cubicBezTo>
                    <a:pt x="25400" y="3387979"/>
                    <a:pt x="0" y="3362579"/>
                    <a:pt x="0" y="3331210"/>
                  </a:cubicBezTo>
                  <a:close/>
                </a:path>
              </a:pathLst>
            </a:custGeom>
            <a:solidFill>
              <a:srgbClr val="4C5052"/>
            </a:solidFill>
          </p:spPr>
        </p:sp>
      </p:grpSp>
      <p:sp>
        <p:nvSpPr>
          <p:cNvPr id="11" name="TextBox 11"/>
          <p:cNvSpPr txBox="1"/>
          <p:nvPr/>
        </p:nvSpPr>
        <p:spPr>
          <a:xfrm>
            <a:off x="8133755" y="3617119"/>
            <a:ext cx="7292280" cy="452437"/>
          </a:xfrm>
          <a:prstGeom prst="rect">
            <a:avLst/>
          </a:prstGeom>
        </p:spPr>
        <p:txBody>
          <a:bodyPr lIns="0" tIns="0" rIns="0" bIns="0" rtlCol="0" anchor="t">
            <a:spAutoFit/>
          </a:bodyPr>
          <a:lstStyle/>
          <a:p>
            <a:pPr algn="l">
              <a:lnSpc>
                <a:spcPts val="3437"/>
              </a:lnSpc>
            </a:pPr>
            <a:r>
              <a:rPr lang="en-US" sz="2750">
                <a:solidFill>
                  <a:srgbClr val="D6D9D7"/>
                </a:solidFill>
                <a:latin typeface="DM Sans"/>
                <a:ea typeface="DM Sans"/>
                <a:cs typeface="DM Sans"/>
                <a:sym typeface="DM Sans"/>
              </a:rPr>
              <a:t>Intergovernmental Panel on Climate Change</a:t>
            </a:r>
          </a:p>
        </p:txBody>
      </p:sp>
      <p:sp>
        <p:nvSpPr>
          <p:cNvPr id="12" name="TextBox 12"/>
          <p:cNvSpPr txBox="1"/>
          <p:nvPr/>
        </p:nvSpPr>
        <p:spPr>
          <a:xfrm>
            <a:off x="8133755" y="4153941"/>
            <a:ext cx="8878491" cy="1446610"/>
          </a:xfrm>
          <a:prstGeom prst="rect">
            <a:avLst/>
          </a:prstGeom>
        </p:spPr>
        <p:txBody>
          <a:bodyPr lIns="0" tIns="0" rIns="0" bIns="0" rtlCol="0" anchor="t">
            <a:spAutoFit/>
          </a:bodyPr>
          <a:lstStyle/>
          <a:p>
            <a:pPr algn="l">
              <a:lnSpc>
                <a:spcPts val="3562"/>
              </a:lnSpc>
            </a:pPr>
            <a:r>
              <a:rPr lang="en-US" sz="2187">
                <a:solidFill>
                  <a:srgbClr val="D6D9D7"/>
                </a:solidFill>
                <a:latin typeface="Inter"/>
                <a:ea typeface="Inter"/>
                <a:cs typeface="Inter"/>
                <a:sym typeface="Inter"/>
              </a:rPr>
              <a:t>Thousands of scientists from 195 countries collaborating to assess climate science with unprecedented rigour and consensus.</a:t>
            </a:r>
          </a:p>
        </p:txBody>
      </p:sp>
      <p:grpSp>
        <p:nvGrpSpPr>
          <p:cNvPr id="13" name="Group 13"/>
          <p:cNvGrpSpPr/>
          <p:nvPr/>
        </p:nvGrpSpPr>
        <p:grpSpPr>
          <a:xfrm>
            <a:off x="7850237" y="6167586"/>
            <a:ext cx="9445526" cy="2087315"/>
            <a:chOff x="0" y="0"/>
            <a:chExt cx="12594035" cy="2783087"/>
          </a:xfrm>
        </p:grpSpPr>
        <p:sp>
          <p:nvSpPr>
            <p:cNvPr id="14" name="Freeform 14"/>
            <p:cNvSpPr/>
            <p:nvPr/>
          </p:nvSpPr>
          <p:spPr>
            <a:xfrm>
              <a:off x="0" y="0"/>
              <a:ext cx="12594082" cy="2783078"/>
            </a:xfrm>
            <a:custGeom>
              <a:avLst/>
              <a:gdLst/>
              <a:ahLst/>
              <a:cxnLst/>
              <a:rect l="l" t="t" r="r" b="b"/>
              <a:pathLst>
                <a:path w="12594082" h="2783078">
                  <a:moveTo>
                    <a:pt x="0" y="56769"/>
                  </a:moveTo>
                  <a:cubicBezTo>
                    <a:pt x="0" y="25400"/>
                    <a:pt x="25400" y="0"/>
                    <a:pt x="56769" y="0"/>
                  </a:cubicBezTo>
                  <a:lnTo>
                    <a:pt x="12537313" y="0"/>
                  </a:lnTo>
                  <a:cubicBezTo>
                    <a:pt x="12568682" y="0"/>
                    <a:pt x="12594082" y="25400"/>
                    <a:pt x="12594082" y="56769"/>
                  </a:cubicBezTo>
                  <a:lnTo>
                    <a:pt x="12594082" y="2726309"/>
                  </a:lnTo>
                  <a:cubicBezTo>
                    <a:pt x="12594082" y="2757678"/>
                    <a:pt x="12568682" y="2783078"/>
                    <a:pt x="12537313" y="2783078"/>
                  </a:cubicBezTo>
                  <a:lnTo>
                    <a:pt x="56769" y="2783078"/>
                  </a:lnTo>
                  <a:cubicBezTo>
                    <a:pt x="25400" y="2783078"/>
                    <a:pt x="0" y="2757678"/>
                    <a:pt x="0" y="2726309"/>
                  </a:cubicBezTo>
                  <a:close/>
                </a:path>
              </a:pathLst>
            </a:custGeom>
            <a:solidFill>
              <a:srgbClr val="4C5052"/>
            </a:solidFill>
          </p:spPr>
        </p:sp>
      </p:grpSp>
      <p:sp>
        <p:nvSpPr>
          <p:cNvPr id="15" name="TextBox 15"/>
          <p:cNvSpPr txBox="1"/>
          <p:nvPr/>
        </p:nvSpPr>
        <p:spPr>
          <a:xfrm>
            <a:off x="8133755" y="6441579"/>
            <a:ext cx="3606701" cy="452437"/>
          </a:xfrm>
          <a:prstGeom prst="rect">
            <a:avLst/>
          </a:prstGeom>
        </p:spPr>
        <p:txBody>
          <a:bodyPr lIns="0" tIns="0" rIns="0" bIns="0" rtlCol="0" anchor="t">
            <a:spAutoFit/>
          </a:bodyPr>
          <a:lstStyle/>
          <a:p>
            <a:pPr algn="l">
              <a:lnSpc>
                <a:spcPts val="3437"/>
              </a:lnSpc>
            </a:pPr>
            <a:r>
              <a:rPr lang="en-US" sz="2750">
                <a:solidFill>
                  <a:srgbClr val="D6D9D7"/>
                </a:solidFill>
                <a:latin typeface="DM Sans"/>
                <a:ea typeface="DM Sans"/>
                <a:cs typeface="DM Sans"/>
                <a:sym typeface="DM Sans"/>
              </a:rPr>
              <a:t>Albert Arnold Gore Jr.</a:t>
            </a:r>
          </a:p>
        </p:txBody>
      </p:sp>
      <p:sp>
        <p:nvSpPr>
          <p:cNvPr id="16" name="TextBox 16"/>
          <p:cNvSpPr txBox="1"/>
          <p:nvPr/>
        </p:nvSpPr>
        <p:spPr>
          <a:xfrm>
            <a:off x="8133755" y="6978402"/>
            <a:ext cx="8878491" cy="992981"/>
          </a:xfrm>
          <a:prstGeom prst="rect">
            <a:avLst/>
          </a:prstGeom>
        </p:spPr>
        <p:txBody>
          <a:bodyPr lIns="0" tIns="0" rIns="0" bIns="0" rtlCol="0" anchor="t">
            <a:spAutoFit/>
          </a:bodyPr>
          <a:lstStyle/>
          <a:p>
            <a:pPr algn="l">
              <a:lnSpc>
                <a:spcPts val="3562"/>
              </a:lnSpc>
            </a:pPr>
            <a:r>
              <a:rPr lang="en-US" sz="2187">
                <a:solidFill>
                  <a:srgbClr val="D6D9D7"/>
                </a:solidFill>
                <a:latin typeface="Inter"/>
                <a:ea typeface="Inter"/>
                <a:cs typeface="Inter"/>
                <a:sym typeface="Inter"/>
              </a:rPr>
              <a:t>Former US Vice President turned environmental activist, filmmaker, and passionate advocate for climate action worldwide.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11213"/>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D3133"/>
            </a:solidFill>
          </p:spPr>
        </p:sp>
      </p:grpSp>
      <p:sp>
        <p:nvSpPr>
          <p:cNvPr id="6" name="TextBox 6"/>
          <p:cNvSpPr txBox="1"/>
          <p:nvPr/>
        </p:nvSpPr>
        <p:spPr>
          <a:xfrm>
            <a:off x="992238" y="2730550"/>
            <a:ext cx="12721530" cy="905024"/>
          </a:xfrm>
          <a:prstGeom prst="rect">
            <a:avLst/>
          </a:prstGeom>
        </p:spPr>
        <p:txBody>
          <a:bodyPr lIns="0" tIns="0" rIns="0" bIns="0" rtlCol="0" anchor="t">
            <a:spAutoFit/>
          </a:bodyPr>
          <a:lstStyle/>
          <a:p>
            <a:pPr algn="l">
              <a:lnSpc>
                <a:spcPts val="6937"/>
              </a:lnSpc>
            </a:pPr>
            <a:r>
              <a:rPr lang="en-US" sz="5562">
                <a:solidFill>
                  <a:srgbClr val="F7F7F8"/>
                </a:solidFill>
                <a:latin typeface="DM Sans"/>
                <a:ea typeface="DM Sans"/>
                <a:cs typeface="DM Sans"/>
                <a:sym typeface="DM Sans"/>
              </a:rPr>
              <a:t>Why Climate Change Threatens Peace</a:t>
            </a:r>
          </a:p>
        </p:txBody>
      </p:sp>
      <p:grpSp>
        <p:nvGrpSpPr>
          <p:cNvPr id="7" name="Group 7"/>
          <p:cNvGrpSpPr>
            <a:grpSpLocks noChangeAspect="1"/>
          </p:cNvGrpSpPr>
          <p:nvPr/>
        </p:nvGrpSpPr>
        <p:grpSpPr>
          <a:xfrm>
            <a:off x="1098500" y="4158257"/>
            <a:ext cx="425203" cy="531614"/>
            <a:chOff x="0" y="0"/>
            <a:chExt cx="566937" cy="708818"/>
          </a:xfrm>
        </p:grpSpPr>
        <p:sp>
          <p:nvSpPr>
            <p:cNvPr id="8" name="Freeform 8" descr="preencoded.png"/>
            <p:cNvSpPr/>
            <p:nvPr/>
          </p:nvSpPr>
          <p:spPr>
            <a:xfrm>
              <a:off x="0" y="0"/>
              <a:ext cx="566928" cy="708787"/>
            </a:xfrm>
            <a:custGeom>
              <a:avLst/>
              <a:gdLst/>
              <a:ahLst/>
              <a:cxnLst/>
              <a:rect l="l" t="t" r="r" b="b"/>
              <a:pathLst>
                <a:path w="566928" h="708787">
                  <a:moveTo>
                    <a:pt x="0" y="0"/>
                  </a:moveTo>
                  <a:lnTo>
                    <a:pt x="566928" y="0"/>
                  </a:lnTo>
                  <a:lnTo>
                    <a:pt x="566928" y="708787"/>
                  </a:lnTo>
                  <a:lnTo>
                    <a:pt x="0" y="708787"/>
                  </a:lnTo>
                  <a:lnTo>
                    <a:pt x="0" y="0"/>
                  </a:lnTo>
                  <a:close/>
                </a:path>
              </a:pathLst>
            </a:custGeom>
            <a:blipFill>
              <a:blip r:embed="rId3"/>
              <a:stretch>
                <a:fillRect l="-233" r="-235" b="-4"/>
              </a:stretch>
            </a:blipFill>
          </p:spPr>
        </p:sp>
      </p:grpSp>
      <p:sp>
        <p:nvSpPr>
          <p:cNvPr id="9" name="TextBox 9"/>
          <p:cNvSpPr txBox="1"/>
          <p:nvPr/>
        </p:nvSpPr>
        <p:spPr>
          <a:xfrm>
            <a:off x="1913632" y="4193084"/>
            <a:ext cx="3544044" cy="452437"/>
          </a:xfrm>
          <a:prstGeom prst="rect">
            <a:avLst/>
          </a:prstGeom>
        </p:spPr>
        <p:txBody>
          <a:bodyPr lIns="0" tIns="0" rIns="0" bIns="0" rtlCol="0" anchor="t">
            <a:spAutoFit/>
          </a:bodyPr>
          <a:lstStyle/>
          <a:p>
            <a:pPr algn="l">
              <a:lnSpc>
                <a:spcPts val="3437"/>
              </a:lnSpc>
            </a:pPr>
            <a:r>
              <a:rPr lang="en-US" sz="2750">
                <a:solidFill>
                  <a:srgbClr val="D6D9D7"/>
                </a:solidFill>
                <a:latin typeface="DM Sans"/>
                <a:ea typeface="DM Sans"/>
                <a:cs typeface="DM Sans"/>
                <a:sym typeface="DM Sans"/>
              </a:rPr>
              <a:t>Resource Scarcity</a:t>
            </a:r>
          </a:p>
        </p:txBody>
      </p:sp>
      <p:sp>
        <p:nvSpPr>
          <p:cNvPr id="10" name="TextBox 10"/>
          <p:cNvSpPr txBox="1"/>
          <p:nvPr/>
        </p:nvSpPr>
        <p:spPr>
          <a:xfrm>
            <a:off x="1913632" y="4729906"/>
            <a:ext cx="4276874" cy="2807494"/>
          </a:xfrm>
          <a:prstGeom prst="rect">
            <a:avLst/>
          </a:prstGeom>
        </p:spPr>
        <p:txBody>
          <a:bodyPr lIns="0" tIns="0" rIns="0" bIns="0" rtlCol="0" anchor="t">
            <a:spAutoFit/>
          </a:bodyPr>
          <a:lstStyle/>
          <a:p>
            <a:pPr algn="l">
              <a:lnSpc>
                <a:spcPts val="3562"/>
              </a:lnSpc>
            </a:pPr>
            <a:r>
              <a:rPr lang="en-US" sz="2187">
                <a:solidFill>
                  <a:srgbClr val="D6D9D7"/>
                </a:solidFill>
                <a:latin typeface="Inter"/>
                <a:ea typeface="Inter"/>
                <a:cs typeface="Inter"/>
                <a:sym typeface="Inter"/>
              </a:rPr>
              <a:t>Rising temperatures and changing precipitation patterns threaten water supplies and agricultural yields, potentially triggering conflicts over essential resources.</a:t>
            </a:r>
          </a:p>
        </p:txBody>
      </p:sp>
      <p:grpSp>
        <p:nvGrpSpPr>
          <p:cNvPr id="11" name="Group 11"/>
          <p:cNvGrpSpPr>
            <a:grpSpLocks noChangeAspect="1"/>
          </p:cNvGrpSpPr>
          <p:nvPr/>
        </p:nvGrpSpPr>
        <p:grpSpPr>
          <a:xfrm>
            <a:off x="6651129" y="4158257"/>
            <a:ext cx="425203" cy="531614"/>
            <a:chOff x="0" y="0"/>
            <a:chExt cx="566937" cy="708818"/>
          </a:xfrm>
        </p:grpSpPr>
        <p:sp>
          <p:nvSpPr>
            <p:cNvPr id="12" name="Freeform 12" descr="preencoded.png"/>
            <p:cNvSpPr/>
            <p:nvPr/>
          </p:nvSpPr>
          <p:spPr>
            <a:xfrm>
              <a:off x="0" y="0"/>
              <a:ext cx="566928" cy="708787"/>
            </a:xfrm>
            <a:custGeom>
              <a:avLst/>
              <a:gdLst/>
              <a:ahLst/>
              <a:cxnLst/>
              <a:rect l="l" t="t" r="r" b="b"/>
              <a:pathLst>
                <a:path w="566928" h="708787">
                  <a:moveTo>
                    <a:pt x="0" y="0"/>
                  </a:moveTo>
                  <a:lnTo>
                    <a:pt x="566928" y="0"/>
                  </a:lnTo>
                  <a:lnTo>
                    <a:pt x="566928" y="708787"/>
                  </a:lnTo>
                  <a:lnTo>
                    <a:pt x="0" y="708787"/>
                  </a:lnTo>
                  <a:lnTo>
                    <a:pt x="0" y="0"/>
                  </a:lnTo>
                  <a:close/>
                </a:path>
              </a:pathLst>
            </a:custGeom>
            <a:blipFill>
              <a:blip r:embed="rId3"/>
              <a:stretch>
                <a:fillRect l="-233" r="-235" b="-4"/>
              </a:stretch>
            </a:blipFill>
          </p:spPr>
        </p:sp>
      </p:grpSp>
      <p:sp>
        <p:nvSpPr>
          <p:cNvPr id="13" name="TextBox 13"/>
          <p:cNvSpPr txBox="1"/>
          <p:nvPr/>
        </p:nvSpPr>
        <p:spPr>
          <a:xfrm>
            <a:off x="7466260" y="4193084"/>
            <a:ext cx="3544044" cy="452437"/>
          </a:xfrm>
          <a:prstGeom prst="rect">
            <a:avLst/>
          </a:prstGeom>
        </p:spPr>
        <p:txBody>
          <a:bodyPr lIns="0" tIns="0" rIns="0" bIns="0" rtlCol="0" anchor="t">
            <a:spAutoFit/>
          </a:bodyPr>
          <a:lstStyle/>
          <a:p>
            <a:pPr algn="l">
              <a:lnSpc>
                <a:spcPts val="3437"/>
              </a:lnSpc>
            </a:pPr>
            <a:r>
              <a:rPr lang="en-US" sz="2750">
                <a:solidFill>
                  <a:srgbClr val="D6D9D7"/>
                </a:solidFill>
                <a:latin typeface="DM Sans"/>
                <a:ea typeface="DM Sans"/>
                <a:cs typeface="DM Sans"/>
                <a:sym typeface="DM Sans"/>
              </a:rPr>
              <a:t>Mass Migration</a:t>
            </a:r>
          </a:p>
        </p:txBody>
      </p:sp>
      <p:sp>
        <p:nvSpPr>
          <p:cNvPr id="14" name="TextBox 14"/>
          <p:cNvSpPr txBox="1"/>
          <p:nvPr/>
        </p:nvSpPr>
        <p:spPr>
          <a:xfrm>
            <a:off x="7466260" y="4729906"/>
            <a:ext cx="4276874" cy="2353866"/>
          </a:xfrm>
          <a:prstGeom prst="rect">
            <a:avLst/>
          </a:prstGeom>
        </p:spPr>
        <p:txBody>
          <a:bodyPr lIns="0" tIns="0" rIns="0" bIns="0" rtlCol="0" anchor="t">
            <a:spAutoFit/>
          </a:bodyPr>
          <a:lstStyle/>
          <a:p>
            <a:pPr algn="l">
              <a:lnSpc>
                <a:spcPts val="3562"/>
              </a:lnSpc>
            </a:pPr>
            <a:r>
              <a:rPr lang="en-US" sz="2187">
                <a:solidFill>
                  <a:srgbClr val="D6D9D7"/>
                </a:solidFill>
                <a:latin typeface="Inter"/>
                <a:ea typeface="Inter"/>
                <a:cs typeface="Inter"/>
                <a:sym typeface="Inter"/>
              </a:rPr>
              <a:t>Sea-level rise and extreme weather events displace populations, creating refugee crises and border tensions between nations.</a:t>
            </a:r>
          </a:p>
        </p:txBody>
      </p:sp>
      <p:grpSp>
        <p:nvGrpSpPr>
          <p:cNvPr id="15" name="Group 15"/>
          <p:cNvGrpSpPr>
            <a:grpSpLocks noChangeAspect="1"/>
          </p:cNvGrpSpPr>
          <p:nvPr/>
        </p:nvGrpSpPr>
        <p:grpSpPr>
          <a:xfrm>
            <a:off x="12203757" y="4158257"/>
            <a:ext cx="425203" cy="531614"/>
            <a:chOff x="0" y="0"/>
            <a:chExt cx="566937" cy="708818"/>
          </a:xfrm>
        </p:grpSpPr>
        <p:sp>
          <p:nvSpPr>
            <p:cNvPr id="16" name="Freeform 16" descr="preencoded.png"/>
            <p:cNvSpPr/>
            <p:nvPr/>
          </p:nvSpPr>
          <p:spPr>
            <a:xfrm>
              <a:off x="0" y="0"/>
              <a:ext cx="566928" cy="708787"/>
            </a:xfrm>
            <a:custGeom>
              <a:avLst/>
              <a:gdLst/>
              <a:ahLst/>
              <a:cxnLst/>
              <a:rect l="l" t="t" r="r" b="b"/>
              <a:pathLst>
                <a:path w="566928" h="708787">
                  <a:moveTo>
                    <a:pt x="0" y="0"/>
                  </a:moveTo>
                  <a:lnTo>
                    <a:pt x="566928" y="0"/>
                  </a:lnTo>
                  <a:lnTo>
                    <a:pt x="566928" y="708787"/>
                  </a:lnTo>
                  <a:lnTo>
                    <a:pt x="0" y="708787"/>
                  </a:lnTo>
                  <a:lnTo>
                    <a:pt x="0" y="0"/>
                  </a:lnTo>
                  <a:close/>
                </a:path>
              </a:pathLst>
            </a:custGeom>
            <a:blipFill>
              <a:blip r:embed="rId3"/>
              <a:stretch>
                <a:fillRect l="-233" r="-235" b="-4"/>
              </a:stretch>
            </a:blipFill>
          </p:spPr>
        </p:sp>
      </p:grpSp>
      <p:sp>
        <p:nvSpPr>
          <p:cNvPr id="17" name="TextBox 17"/>
          <p:cNvSpPr txBox="1"/>
          <p:nvPr/>
        </p:nvSpPr>
        <p:spPr>
          <a:xfrm>
            <a:off x="13018889" y="4193084"/>
            <a:ext cx="3544044" cy="452437"/>
          </a:xfrm>
          <a:prstGeom prst="rect">
            <a:avLst/>
          </a:prstGeom>
        </p:spPr>
        <p:txBody>
          <a:bodyPr lIns="0" tIns="0" rIns="0" bIns="0" rtlCol="0" anchor="t">
            <a:spAutoFit/>
          </a:bodyPr>
          <a:lstStyle/>
          <a:p>
            <a:pPr algn="l">
              <a:lnSpc>
                <a:spcPts val="3437"/>
              </a:lnSpc>
            </a:pPr>
            <a:r>
              <a:rPr lang="en-US" sz="2750">
                <a:solidFill>
                  <a:srgbClr val="D6D9D7"/>
                </a:solidFill>
                <a:latin typeface="DM Sans"/>
                <a:ea typeface="DM Sans"/>
                <a:cs typeface="DM Sans"/>
                <a:sym typeface="DM Sans"/>
              </a:rPr>
              <a:t>Economic Instability</a:t>
            </a:r>
          </a:p>
        </p:txBody>
      </p:sp>
      <p:sp>
        <p:nvSpPr>
          <p:cNvPr id="18" name="TextBox 18"/>
          <p:cNvSpPr txBox="1"/>
          <p:nvPr/>
        </p:nvSpPr>
        <p:spPr>
          <a:xfrm>
            <a:off x="13018889" y="4729906"/>
            <a:ext cx="4276874" cy="2353866"/>
          </a:xfrm>
          <a:prstGeom prst="rect">
            <a:avLst/>
          </a:prstGeom>
        </p:spPr>
        <p:txBody>
          <a:bodyPr lIns="0" tIns="0" rIns="0" bIns="0" rtlCol="0" anchor="t">
            <a:spAutoFit/>
          </a:bodyPr>
          <a:lstStyle/>
          <a:p>
            <a:pPr algn="l">
              <a:lnSpc>
                <a:spcPts val="3562"/>
              </a:lnSpc>
            </a:pPr>
            <a:r>
              <a:rPr lang="en-US" sz="2187">
                <a:solidFill>
                  <a:srgbClr val="D6D9D7"/>
                </a:solidFill>
                <a:latin typeface="Inter"/>
                <a:ea typeface="Inter"/>
                <a:cs typeface="Inter"/>
                <a:sym typeface="Inter"/>
              </a:rPr>
              <a:t>Climate impacts devastate economies, particularly in vulnerable regions, leading to social unrest and political instability.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11213"/>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D3133"/>
            </a:solidFill>
          </p:spPr>
        </p:sp>
      </p:grpSp>
      <p:grpSp>
        <p:nvGrpSpPr>
          <p:cNvPr id="6" name="Group 6"/>
          <p:cNvGrpSpPr>
            <a:grpSpLocks noChangeAspect="1"/>
          </p:cNvGrpSpPr>
          <p:nvPr/>
        </p:nvGrpSpPr>
        <p:grpSpPr>
          <a:xfrm>
            <a:off x="0" y="0"/>
            <a:ext cx="18288000" cy="3544044"/>
            <a:chOff x="0" y="0"/>
            <a:chExt cx="24384000" cy="4725392"/>
          </a:xfrm>
        </p:grpSpPr>
        <p:sp>
          <p:nvSpPr>
            <p:cNvPr id="7" name="Freeform 7" descr="preencoded.png"/>
            <p:cNvSpPr/>
            <p:nvPr/>
          </p:nvSpPr>
          <p:spPr>
            <a:xfrm>
              <a:off x="0" y="0"/>
              <a:ext cx="24384000" cy="4725416"/>
            </a:xfrm>
            <a:custGeom>
              <a:avLst/>
              <a:gdLst/>
              <a:ahLst/>
              <a:cxnLst/>
              <a:rect l="l" t="t" r="r" b="b"/>
              <a:pathLst>
                <a:path w="24384000" h="4725416">
                  <a:moveTo>
                    <a:pt x="0" y="0"/>
                  </a:moveTo>
                  <a:lnTo>
                    <a:pt x="24384000" y="0"/>
                  </a:lnTo>
                  <a:lnTo>
                    <a:pt x="24384000" y="4725416"/>
                  </a:lnTo>
                  <a:lnTo>
                    <a:pt x="0" y="4725416"/>
                  </a:lnTo>
                  <a:lnTo>
                    <a:pt x="0" y="0"/>
                  </a:lnTo>
                  <a:close/>
                </a:path>
              </a:pathLst>
            </a:custGeom>
            <a:blipFill>
              <a:blip r:embed="rId3"/>
              <a:stretch>
                <a:fillRect l="-10" r="-10"/>
              </a:stretch>
            </a:blipFill>
          </p:spPr>
        </p:sp>
      </p:grpSp>
      <p:sp>
        <p:nvSpPr>
          <p:cNvPr id="8" name="TextBox 8"/>
          <p:cNvSpPr txBox="1"/>
          <p:nvPr/>
        </p:nvSpPr>
        <p:spPr>
          <a:xfrm>
            <a:off x="992238" y="4590009"/>
            <a:ext cx="10452944" cy="905024"/>
          </a:xfrm>
          <a:prstGeom prst="rect">
            <a:avLst/>
          </a:prstGeom>
        </p:spPr>
        <p:txBody>
          <a:bodyPr lIns="0" tIns="0" rIns="0" bIns="0" rtlCol="0" anchor="t">
            <a:spAutoFit/>
          </a:bodyPr>
          <a:lstStyle/>
          <a:p>
            <a:pPr algn="l">
              <a:lnSpc>
                <a:spcPts val="6937"/>
              </a:lnSpc>
            </a:pPr>
            <a:r>
              <a:rPr lang="en-US" sz="5562">
                <a:solidFill>
                  <a:srgbClr val="F7F7F8"/>
                </a:solidFill>
                <a:latin typeface="DM Sans"/>
                <a:ea typeface="DM Sans"/>
                <a:cs typeface="DM Sans"/>
                <a:sym typeface="DM Sans"/>
              </a:rPr>
              <a:t>IPCC: The Scientific Foundation</a:t>
            </a:r>
          </a:p>
        </p:txBody>
      </p:sp>
      <p:grpSp>
        <p:nvGrpSpPr>
          <p:cNvPr id="9" name="Group 9"/>
          <p:cNvGrpSpPr/>
          <p:nvPr/>
        </p:nvGrpSpPr>
        <p:grpSpPr>
          <a:xfrm>
            <a:off x="992238" y="6364040"/>
            <a:ext cx="5245447" cy="38100"/>
            <a:chOff x="0" y="0"/>
            <a:chExt cx="6993930" cy="50800"/>
          </a:xfrm>
        </p:grpSpPr>
        <p:sp>
          <p:nvSpPr>
            <p:cNvPr id="10" name="Freeform 10"/>
            <p:cNvSpPr/>
            <p:nvPr/>
          </p:nvSpPr>
          <p:spPr>
            <a:xfrm>
              <a:off x="0" y="0"/>
              <a:ext cx="6993890" cy="50800"/>
            </a:xfrm>
            <a:custGeom>
              <a:avLst/>
              <a:gdLst/>
              <a:ahLst/>
              <a:cxnLst/>
              <a:rect l="l" t="t" r="r" b="b"/>
              <a:pathLst>
                <a:path w="6993890" h="50800">
                  <a:moveTo>
                    <a:pt x="0" y="0"/>
                  </a:moveTo>
                  <a:lnTo>
                    <a:pt x="6993890" y="0"/>
                  </a:lnTo>
                  <a:lnTo>
                    <a:pt x="6993890" y="50800"/>
                  </a:lnTo>
                  <a:lnTo>
                    <a:pt x="0" y="50800"/>
                  </a:lnTo>
                  <a:close/>
                </a:path>
              </a:pathLst>
            </a:custGeom>
            <a:solidFill>
              <a:srgbClr val="AC9EF5"/>
            </a:solidFill>
          </p:spPr>
        </p:sp>
      </p:grpSp>
      <p:sp>
        <p:nvSpPr>
          <p:cNvPr id="11" name="TextBox 11"/>
          <p:cNvSpPr txBox="1"/>
          <p:nvPr/>
        </p:nvSpPr>
        <p:spPr>
          <a:xfrm>
            <a:off x="992238" y="6572399"/>
            <a:ext cx="3578721" cy="452437"/>
          </a:xfrm>
          <a:prstGeom prst="rect">
            <a:avLst/>
          </a:prstGeom>
        </p:spPr>
        <p:txBody>
          <a:bodyPr lIns="0" tIns="0" rIns="0" bIns="0" rtlCol="0" anchor="t">
            <a:spAutoFit/>
          </a:bodyPr>
          <a:lstStyle/>
          <a:p>
            <a:pPr algn="l">
              <a:lnSpc>
                <a:spcPts val="3437"/>
              </a:lnSpc>
            </a:pPr>
            <a:r>
              <a:rPr lang="en-US" sz="2750">
                <a:solidFill>
                  <a:srgbClr val="D6D9D7"/>
                </a:solidFill>
                <a:latin typeface="DM Sans"/>
                <a:ea typeface="DM Sans"/>
                <a:cs typeface="DM Sans"/>
                <a:sym typeface="DM Sans"/>
              </a:rPr>
              <a:t>Rigorous Assessment</a:t>
            </a:r>
          </a:p>
        </p:txBody>
      </p:sp>
      <p:sp>
        <p:nvSpPr>
          <p:cNvPr id="12" name="TextBox 12"/>
          <p:cNvSpPr txBox="1"/>
          <p:nvPr/>
        </p:nvSpPr>
        <p:spPr>
          <a:xfrm>
            <a:off x="992238" y="7109222"/>
            <a:ext cx="5245447" cy="1900237"/>
          </a:xfrm>
          <a:prstGeom prst="rect">
            <a:avLst/>
          </a:prstGeom>
        </p:spPr>
        <p:txBody>
          <a:bodyPr lIns="0" tIns="0" rIns="0" bIns="0" rtlCol="0" anchor="t">
            <a:spAutoFit/>
          </a:bodyPr>
          <a:lstStyle/>
          <a:p>
            <a:pPr algn="l">
              <a:lnSpc>
                <a:spcPts val="3562"/>
              </a:lnSpc>
            </a:pPr>
            <a:r>
              <a:rPr lang="en-US" sz="2187">
                <a:solidFill>
                  <a:srgbClr val="D6D9D7"/>
                </a:solidFill>
                <a:latin typeface="Inter"/>
                <a:ea typeface="Inter"/>
                <a:cs typeface="Inter"/>
                <a:sym typeface="Inter"/>
              </a:rPr>
              <a:t>Evaluating thousands of peer-reviewed studies to provide comprehensive climate science reports every 5-7 years.</a:t>
            </a:r>
          </a:p>
        </p:txBody>
      </p:sp>
      <p:grpSp>
        <p:nvGrpSpPr>
          <p:cNvPr id="13" name="Group 13"/>
          <p:cNvGrpSpPr/>
          <p:nvPr/>
        </p:nvGrpSpPr>
        <p:grpSpPr>
          <a:xfrm>
            <a:off x="6521202" y="6364040"/>
            <a:ext cx="5245447" cy="38100"/>
            <a:chOff x="0" y="0"/>
            <a:chExt cx="6993930" cy="50800"/>
          </a:xfrm>
        </p:grpSpPr>
        <p:sp>
          <p:nvSpPr>
            <p:cNvPr id="14" name="Freeform 14"/>
            <p:cNvSpPr/>
            <p:nvPr/>
          </p:nvSpPr>
          <p:spPr>
            <a:xfrm>
              <a:off x="0" y="0"/>
              <a:ext cx="6993890" cy="50800"/>
            </a:xfrm>
            <a:custGeom>
              <a:avLst/>
              <a:gdLst/>
              <a:ahLst/>
              <a:cxnLst/>
              <a:rect l="l" t="t" r="r" b="b"/>
              <a:pathLst>
                <a:path w="6993890" h="50800">
                  <a:moveTo>
                    <a:pt x="0" y="0"/>
                  </a:moveTo>
                  <a:lnTo>
                    <a:pt x="6993890" y="0"/>
                  </a:lnTo>
                  <a:lnTo>
                    <a:pt x="6993890" y="50800"/>
                  </a:lnTo>
                  <a:lnTo>
                    <a:pt x="0" y="50800"/>
                  </a:lnTo>
                  <a:close/>
                </a:path>
              </a:pathLst>
            </a:custGeom>
            <a:solidFill>
              <a:srgbClr val="AC9EF5"/>
            </a:solidFill>
          </p:spPr>
        </p:sp>
      </p:grpSp>
      <p:sp>
        <p:nvSpPr>
          <p:cNvPr id="15" name="TextBox 15"/>
          <p:cNvSpPr txBox="1"/>
          <p:nvPr/>
        </p:nvSpPr>
        <p:spPr>
          <a:xfrm>
            <a:off x="6521202" y="6572399"/>
            <a:ext cx="3544044" cy="452437"/>
          </a:xfrm>
          <a:prstGeom prst="rect">
            <a:avLst/>
          </a:prstGeom>
        </p:spPr>
        <p:txBody>
          <a:bodyPr lIns="0" tIns="0" rIns="0" bIns="0" rtlCol="0" anchor="t">
            <a:spAutoFit/>
          </a:bodyPr>
          <a:lstStyle/>
          <a:p>
            <a:pPr algn="l">
              <a:lnSpc>
                <a:spcPts val="3437"/>
              </a:lnSpc>
            </a:pPr>
            <a:r>
              <a:rPr lang="en-US" sz="2750">
                <a:solidFill>
                  <a:srgbClr val="D6D9D7"/>
                </a:solidFill>
                <a:latin typeface="DM Sans"/>
                <a:ea typeface="DM Sans"/>
                <a:cs typeface="DM Sans"/>
                <a:sym typeface="DM Sans"/>
              </a:rPr>
              <a:t>Global Consensus</a:t>
            </a:r>
          </a:p>
        </p:txBody>
      </p:sp>
      <p:sp>
        <p:nvSpPr>
          <p:cNvPr id="16" name="TextBox 16"/>
          <p:cNvSpPr txBox="1"/>
          <p:nvPr/>
        </p:nvSpPr>
        <p:spPr>
          <a:xfrm>
            <a:off x="6521202" y="7109222"/>
            <a:ext cx="5245447" cy="1900237"/>
          </a:xfrm>
          <a:prstGeom prst="rect">
            <a:avLst/>
          </a:prstGeom>
        </p:spPr>
        <p:txBody>
          <a:bodyPr lIns="0" tIns="0" rIns="0" bIns="0" rtlCol="0" anchor="t">
            <a:spAutoFit/>
          </a:bodyPr>
          <a:lstStyle/>
          <a:p>
            <a:pPr algn="l">
              <a:lnSpc>
                <a:spcPts val="3562"/>
              </a:lnSpc>
            </a:pPr>
            <a:r>
              <a:rPr lang="en-US" sz="2187">
                <a:solidFill>
                  <a:srgbClr val="D6D9D7"/>
                </a:solidFill>
                <a:latin typeface="Inter"/>
                <a:ea typeface="Inter"/>
                <a:cs typeface="Inter"/>
                <a:sym typeface="Inter"/>
              </a:rPr>
              <a:t>Building unprecedented scientific agreement that human activities are the primary driver of recent climate change.</a:t>
            </a:r>
          </a:p>
        </p:txBody>
      </p:sp>
      <p:grpSp>
        <p:nvGrpSpPr>
          <p:cNvPr id="17" name="Group 17"/>
          <p:cNvGrpSpPr/>
          <p:nvPr/>
        </p:nvGrpSpPr>
        <p:grpSpPr>
          <a:xfrm>
            <a:off x="12050166" y="6364040"/>
            <a:ext cx="5245447" cy="38100"/>
            <a:chOff x="0" y="0"/>
            <a:chExt cx="6993930" cy="50800"/>
          </a:xfrm>
        </p:grpSpPr>
        <p:sp>
          <p:nvSpPr>
            <p:cNvPr id="18" name="Freeform 18"/>
            <p:cNvSpPr/>
            <p:nvPr/>
          </p:nvSpPr>
          <p:spPr>
            <a:xfrm>
              <a:off x="0" y="0"/>
              <a:ext cx="6993890" cy="50800"/>
            </a:xfrm>
            <a:custGeom>
              <a:avLst/>
              <a:gdLst/>
              <a:ahLst/>
              <a:cxnLst/>
              <a:rect l="l" t="t" r="r" b="b"/>
              <a:pathLst>
                <a:path w="6993890" h="50800">
                  <a:moveTo>
                    <a:pt x="0" y="0"/>
                  </a:moveTo>
                  <a:lnTo>
                    <a:pt x="6993890" y="0"/>
                  </a:lnTo>
                  <a:lnTo>
                    <a:pt x="6993890" y="50800"/>
                  </a:lnTo>
                  <a:lnTo>
                    <a:pt x="0" y="50800"/>
                  </a:lnTo>
                  <a:close/>
                </a:path>
              </a:pathLst>
            </a:custGeom>
            <a:solidFill>
              <a:srgbClr val="AC9EF5"/>
            </a:solidFill>
          </p:spPr>
        </p:sp>
      </p:grpSp>
      <p:sp>
        <p:nvSpPr>
          <p:cNvPr id="19" name="TextBox 19"/>
          <p:cNvSpPr txBox="1"/>
          <p:nvPr/>
        </p:nvSpPr>
        <p:spPr>
          <a:xfrm>
            <a:off x="12050166" y="6572399"/>
            <a:ext cx="3544044" cy="452437"/>
          </a:xfrm>
          <a:prstGeom prst="rect">
            <a:avLst/>
          </a:prstGeom>
        </p:spPr>
        <p:txBody>
          <a:bodyPr lIns="0" tIns="0" rIns="0" bIns="0" rtlCol="0" anchor="t">
            <a:spAutoFit/>
          </a:bodyPr>
          <a:lstStyle/>
          <a:p>
            <a:pPr algn="l">
              <a:lnSpc>
                <a:spcPts val="3437"/>
              </a:lnSpc>
            </a:pPr>
            <a:r>
              <a:rPr lang="en-US" sz="2750">
                <a:solidFill>
                  <a:srgbClr val="D6D9D7"/>
                </a:solidFill>
                <a:latin typeface="DM Sans"/>
                <a:ea typeface="DM Sans"/>
                <a:cs typeface="DM Sans"/>
                <a:sym typeface="DM Sans"/>
              </a:rPr>
              <a:t>Policy Guidance</a:t>
            </a:r>
          </a:p>
        </p:txBody>
      </p:sp>
      <p:sp>
        <p:nvSpPr>
          <p:cNvPr id="20" name="TextBox 20"/>
          <p:cNvSpPr txBox="1"/>
          <p:nvPr/>
        </p:nvSpPr>
        <p:spPr>
          <a:xfrm>
            <a:off x="12050166" y="7109222"/>
            <a:ext cx="5245447" cy="1900237"/>
          </a:xfrm>
          <a:prstGeom prst="rect">
            <a:avLst/>
          </a:prstGeom>
        </p:spPr>
        <p:txBody>
          <a:bodyPr lIns="0" tIns="0" rIns="0" bIns="0" rtlCol="0" anchor="t">
            <a:spAutoFit/>
          </a:bodyPr>
          <a:lstStyle/>
          <a:p>
            <a:pPr algn="l">
              <a:lnSpc>
                <a:spcPts val="3562"/>
              </a:lnSpc>
            </a:pPr>
            <a:r>
              <a:rPr lang="en-US" sz="2187">
                <a:solidFill>
                  <a:srgbClr val="D6D9D7"/>
                </a:solidFill>
                <a:latin typeface="Inter"/>
                <a:ea typeface="Inter"/>
                <a:cs typeface="Inter"/>
                <a:sym typeface="Inter"/>
              </a:rPr>
              <a:t>Translating complex climate science into accessible information for policymakers and the public worldwide.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11213"/>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D3133"/>
            </a:solidFill>
          </p:spPr>
        </p:sp>
      </p:grpSp>
      <p:sp>
        <p:nvSpPr>
          <p:cNvPr id="6" name="TextBox 6"/>
          <p:cNvSpPr txBox="1"/>
          <p:nvPr/>
        </p:nvSpPr>
        <p:spPr>
          <a:xfrm>
            <a:off x="992238" y="1096715"/>
            <a:ext cx="10251728" cy="905024"/>
          </a:xfrm>
          <a:prstGeom prst="rect">
            <a:avLst/>
          </a:prstGeom>
        </p:spPr>
        <p:txBody>
          <a:bodyPr lIns="0" tIns="0" rIns="0" bIns="0" rtlCol="0" anchor="t">
            <a:spAutoFit/>
          </a:bodyPr>
          <a:lstStyle/>
          <a:p>
            <a:pPr algn="l">
              <a:lnSpc>
                <a:spcPts val="6937"/>
              </a:lnSpc>
            </a:pPr>
            <a:r>
              <a:rPr lang="en-US" sz="5562">
                <a:solidFill>
                  <a:srgbClr val="F7F7F8"/>
                </a:solidFill>
                <a:latin typeface="DM Sans"/>
                <a:ea typeface="DM Sans"/>
                <a:cs typeface="DM Sans"/>
                <a:sym typeface="DM Sans"/>
              </a:rPr>
              <a:t>Al Gore: From Politics to Planet</a:t>
            </a:r>
          </a:p>
        </p:txBody>
      </p:sp>
      <p:sp>
        <p:nvSpPr>
          <p:cNvPr id="7" name="TextBox 7"/>
          <p:cNvSpPr txBox="1"/>
          <p:nvPr/>
        </p:nvSpPr>
        <p:spPr>
          <a:xfrm>
            <a:off x="992238" y="2691408"/>
            <a:ext cx="4402188" cy="550664"/>
          </a:xfrm>
          <a:prstGeom prst="rect">
            <a:avLst/>
          </a:prstGeom>
        </p:spPr>
        <p:txBody>
          <a:bodyPr lIns="0" tIns="0" rIns="0" bIns="0" rtlCol="0" anchor="t">
            <a:spAutoFit/>
          </a:bodyPr>
          <a:lstStyle/>
          <a:p>
            <a:pPr algn="l">
              <a:lnSpc>
                <a:spcPts val="4125"/>
              </a:lnSpc>
            </a:pPr>
            <a:r>
              <a:rPr lang="en-US" sz="3312">
                <a:solidFill>
                  <a:srgbClr val="F7F7F8"/>
                </a:solidFill>
                <a:latin typeface="DM Sans"/>
                <a:ea typeface="DM Sans"/>
                <a:cs typeface="DM Sans"/>
                <a:sym typeface="DM Sans"/>
              </a:rPr>
              <a:t>An Inconvenient Truth</a:t>
            </a:r>
          </a:p>
        </p:txBody>
      </p:sp>
      <p:sp>
        <p:nvSpPr>
          <p:cNvPr id="8" name="TextBox 8"/>
          <p:cNvSpPr txBox="1"/>
          <p:nvPr/>
        </p:nvSpPr>
        <p:spPr>
          <a:xfrm>
            <a:off x="992238" y="3439865"/>
            <a:ext cx="9505355" cy="1900237"/>
          </a:xfrm>
          <a:prstGeom prst="rect">
            <a:avLst/>
          </a:prstGeom>
        </p:spPr>
        <p:txBody>
          <a:bodyPr lIns="0" tIns="0" rIns="0" bIns="0" rtlCol="0" anchor="t">
            <a:spAutoFit/>
          </a:bodyPr>
          <a:lstStyle/>
          <a:p>
            <a:pPr algn="l">
              <a:lnSpc>
                <a:spcPts val="3562"/>
              </a:lnSpc>
            </a:pPr>
            <a:r>
              <a:rPr lang="en-US" sz="2187">
                <a:solidFill>
                  <a:srgbClr val="D6D9D7"/>
                </a:solidFill>
                <a:latin typeface="Inter"/>
                <a:ea typeface="Inter"/>
                <a:cs typeface="Inter"/>
                <a:sym typeface="Inter"/>
              </a:rPr>
              <a:t>Gore's 2006 documentary became a cultural phenomenon, viewed by millions worldwide. The film transformed complex climate data into compelling storytelling, making global warming personally relevant to ordinary citizens.</a:t>
            </a:r>
          </a:p>
        </p:txBody>
      </p:sp>
      <p:sp>
        <p:nvSpPr>
          <p:cNvPr id="9" name="TextBox 9"/>
          <p:cNvSpPr txBox="1"/>
          <p:nvPr/>
        </p:nvSpPr>
        <p:spPr>
          <a:xfrm>
            <a:off x="992238" y="5604570"/>
            <a:ext cx="5303639" cy="550664"/>
          </a:xfrm>
          <a:prstGeom prst="rect">
            <a:avLst/>
          </a:prstGeom>
        </p:spPr>
        <p:txBody>
          <a:bodyPr lIns="0" tIns="0" rIns="0" bIns="0" rtlCol="0" anchor="t">
            <a:spAutoFit/>
          </a:bodyPr>
          <a:lstStyle/>
          <a:p>
            <a:pPr algn="l">
              <a:lnSpc>
                <a:spcPts val="4125"/>
              </a:lnSpc>
            </a:pPr>
            <a:r>
              <a:rPr lang="en-US" sz="3312">
                <a:solidFill>
                  <a:srgbClr val="F7F7F8"/>
                </a:solidFill>
                <a:latin typeface="DM Sans"/>
                <a:ea typeface="DM Sans"/>
                <a:cs typeface="DM Sans"/>
                <a:sym typeface="DM Sans"/>
              </a:rPr>
              <a:t>Global Climate Campaigns</a:t>
            </a:r>
          </a:p>
        </p:txBody>
      </p:sp>
      <p:sp>
        <p:nvSpPr>
          <p:cNvPr id="10" name="TextBox 10"/>
          <p:cNvSpPr txBox="1"/>
          <p:nvPr/>
        </p:nvSpPr>
        <p:spPr>
          <a:xfrm>
            <a:off x="992238" y="6353026"/>
            <a:ext cx="9505355" cy="1446610"/>
          </a:xfrm>
          <a:prstGeom prst="rect">
            <a:avLst/>
          </a:prstGeom>
        </p:spPr>
        <p:txBody>
          <a:bodyPr lIns="0" tIns="0" rIns="0" bIns="0" rtlCol="0" anchor="t">
            <a:spAutoFit/>
          </a:bodyPr>
          <a:lstStyle/>
          <a:p>
            <a:pPr algn="l">
              <a:lnSpc>
                <a:spcPts val="3562"/>
              </a:lnSpc>
            </a:pPr>
            <a:r>
              <a:rPr lang="en-US" sz="2187">
                <a:solidFill>
                  <a:srgbClr val="D6D9D7"/>
                </a:solidFill>
                <a:latin typeface="Inter"/>
                <a:ea typeface="Inter"/>
                <a:cs typeface="Inter"/>
                <a:sym typeface="Inter"/>
              </a:rPr>
              <a:t>Through Live Earth concerts, Climate Reality Project presentations, and countless speeches, Gore brought climate science from academic circles into mainstream consciousness.</a:t>
            </a:r>
          </a:p>
        </p:txBody>
      </p:sp>
      <p:grpSp>
        <p:nvGrpSpPr>
          <p:cNvPr id="11" name="Group 11"/>
          <p:cNvGrpSpPr>
            <a:grpSpLocks noChangeAspect="1"/>
          </p:cNvGrpSpPr>
          <p:nvPr/>
        </p:nvGrpSpPr>
        <p:grpSpPr>
          <a:xfrm>
            <a:off x="11198870" y="2745879"/>
            <a:ext cx="6106269" cy="6106269"/>
            <a:chOff x="0" y="0"/>
            <a:chExt cx="8141692" cy="8141692"/>
          </a:xfrm>
        </p:grpSpPr>
        <p:sp>
          <p:nvSpPr>
            <p:cNvPr id="12" name="Freeform 12" descr="preencoded.png"/>
            <p:cNvSpPr/>
            <p:nvPr/>
          </p:nvSpPr>
          <p:spPr>
            <a:xfrm>
              <a:off x="0" y="0"/>
              <a:ext cx="8141716" cy="8141716"/>
            </a:xfrm>
            <a:custGeom>
              <a:avLst/>
              <a:gdLst/>
              <a:ahLst/>
              <a:cxnLst/>
              <a:rect l="l" t="t" r="r" b="b"/>
              <a:pathLst>
                <a:path w="8141716" h="8141716">
                  <a:moveTo>
                    <a:pt x="0" y="0"/>
                  </a:moveTo>
                  <a:lnTo>
                    <a:pt x="8141716" y="0"/>
                  </a:lnTo>
                  <a:lnTo>
                    <a:pt x="8141716" y="8141716"/>
                  </a:lnTo>
                  <a:lnTo>
                    <a:pt x="0" y="8141716"/>
                  </a:lnTo>
                  <a:lnTo>
                    <a:pt x="0" y="0"/>
                  </a:lnTo>
                  <a:close/>
                </a:path>
              </a:pathLst>
            </a:custGeom>
            <a:blipFill>
              <a:blip r:embed="rId3"/>
              <a:stretch>
                <a:fillRect/>
              </a:stretch>
            </a:blipFill>
          </p:spPr>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11213"/>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D3133"/>
            </a:solidFill>
          </p:spPr>
        </p:sp>
      </p:grpSp>
      <p:grpSp>
        <p:nvGrpSpPr>
          <p:cNvPr id="6" name="Group 6"/>
          <p:cNvGrpSpPr>
            <a:grpSpLocks noChangeAspect="1"/>
          </p:cNvGrpSpPr>
          <p:nvPr/>
        </p:nvGrpSpPr>
        <p:grpSpPr>
          <a:xfrm>
            <a:off x="0" y="0"/>
            <a:ext cx="18288000" cy="3544044"/>
            <a:chOff x="0" y="0"/>
            <a:chExt cx="24384000" cy="4725392"/>
          </a:xfrm>
        </p:grpSpPr>
        <p:sp>
          <p:nvSpPr>
            <p:cNvPr id="7" name="Freeform 7" descr="preencoded.png"/>
            <p:cNvSpPr/>
            <p:nvPr/>
          </p:nvSpPr>
          <p:spPr>
            <a:xfrm>
              <a:off x="0" y="0"/>
              <a:ext cx="24384000" cy="4725416"/>
            </a:xfrm>
            <a:custGeom>
              <a:avLst/>
              <a:gdLst/>
              <a:ahLst/>
              <a:cxnLst/>
              <a:rect l="l" t="t" r="r" b="b"/>
              <a:pathLst>
                <a:path w="24384000" h="4725416">
                  <a:moveTo>
                    <a:pt x="0" y="0"/>
                  </a:moveTo>
                  <a:lnTo>
                    <a:pt x="24384000" y="0"/>
                  </a:lnTo>
                  <a:lnTo>
                    <a:pt x="24384000" y="4725416"/>
                  </a:lnTo>
                  <a:lnTo>
                    <a:pt x="0" y="4725416"/>
                  </a:lnTo>
                  <a:lnTo>
                    <a:pt x="0" y="0"/>
                  </a:lnTo>
                  <a:close/>
                </a:path>
              </a:pathLst>
            </a:custGeom>
            <a:blipFill>
              <a:blip r:embed="rId3"/>
              <a:stretch>
                <a:fillRect l="-10" r="-10"/>
              </a:stretch>
            </a:blipFill>
          </p:spPr>
        </p:sp>
      </p:grpSp>
      <p:sp>
        <p:nvSpPr>
          <p:cNvPr id="8" name="TextBox 8"/>
          <p:cNvSpPr txBox="1"/>
          <p:nvPr/>
        </p:nvSpPr>
        <p:spPr>
          <a:xfrm>
            <a:off x="992238" y="4765030"/>
            <a:ext cx="10285065" cy="905024"/>
          </a:xfrm>
          <a:prstGeom prst="rect">
            <a:avLst/>
          </a:prstGeom>
        </p:spPr>
        <p:txBody>
          <a:bodyPr lIns="0" tIns="0" rIns="0" bIns="0" rtlCol="0" anchor="t">
            <a:spAutoFit/>
          </a:bodyPr>
          <a:lstStyle/>
          <a:p>
            <a:pPr algn="l">
              <a:lnSpc>
                <a:spcPts val="6937"/>
              </a:lnSpc>
            </a:pPr>
            <a:r>
              <a:rPr lang="en-US" sz="5562">
                <a:solidFill>
                  <a:srgbClr val="F7F7F8"/>
                </a:solidFill>
                <a:latin typeface="DM Sans"/>
                <a:ea typeface="DM Sans"/>
                <a:cs typeface="DM Sans"/>
                <a:sym typeface="DM Sans"/>
              </a:rPr>
              <a:t>The Award's Immediate Impact</a:t>
            </a:r>
          </a:p>
        </p:txBody>
      </p:sp>
      <p:sp>
        <p:nvSpPr>
          <p:cNvPr id="9" name="TextBox 9"/>
          <p:cNvSpPr txBox="1"/>
          <p:nvPr/>
        </p:nvSpPr>
        <p:spPr>
          <a:xfrm>
            <a:off x="992238" y="6370290"/>
            <a:ext cx="5198269" cy="802184"/>
          </a:xfrm>
          <a:prstGeom prst="rect">
            <a:avLst/>
          </a:prstGeom>
        </p:spPr>
        <p:txBody>
          <a:bodyPr lIns="0" tIns="0" rIns="0" bIns="0" rtlCol="0" anchor="t">
            <a:spAutoFit/>
          </a:bodyPr>
          <a:lstStyle/>
          <a:p>
            <a:pPr algn="ctr">
              <a:lnSpc>
                <a:spcPts val="7312"/>
              </a:lnSpc>
            </a:pPr>
            <a:r>
              <a:rPr lang="en-US" sz="7312">
                <a:solidFill>
                  <a:srgbClr val="D6D9D7"/>
                </a:solidFill>
                <a:latin typeface="DM Sans"/>
                <a:ea typeface="DM Sans"/>
                <a:cs typeface="DM Sans"/>
                <a:sym typeface="DM Sans"/>
              </a:rPr>
              <a:t>190</a:t>
            </a:r>
          </a:p>
        </p:txBody>
      </p:sp>
      <p:sp>
        <p:nvSpPr>
          <p:cNvPr id="10" name="TextBox 10"/>
          <p:cNvSpPr txBox="1"/>
          <p:nvPr/>
        </p:nvSpPr>
        <p:spPr>
          <a:xfrm>
            <a:off x="1819275" y="7517160"/>
            <a:ext cx="3544044" cy="452437"/>
          </a:xfrm>
          <a:prstGeom prst="rect">
            <a:avLst/>
          </a:prstGeom>
        </p:spPr>
        <p:txBody>
          <a:bodyPr lIns="0" tIns="0" rIns="0" bIns="0" rtlCol="0" anchor="t">
            <a:spAutoFit/>
          </a:bodyPr>
          <a:lstStyle/>
          <a:p>
            <a:pPr algn="ctr">
              <a:lnSpc>
                <a:spcPts val="3437"/>
              </a:lnSpc>
            </a:pPr>
            <a:r>
              <a:rPr lang="en-US" sz="2750">
                <a:solidFill>
                  <a:srgbClr val="D6D9D7"/>
                </a:solidFill>
                <a:latin typeface="DM Sans"/>
                <a:ea typeface="DM Sans"/>
                <a:cs typeface="DM Sans"/>
                <a:sym typeface="DM Sans"/>
              </a:rPr>
              <a:t>Countries</a:t>
            </a:r>
          </a:p>
        </p:txBody>
      </p:sp>
      <p:sp>
        <p:nvSpPr>
          <p:cNvPr id="11" name="TextBox 11"/>
          <p:cNvSpPr txBox="1"/>
          <p:nvPr/>
        </p:nvSpPr>
        <p:spPr>
          <a:xfrm>
            <a:off x="992238" y="8053982"/>
            <a:ext cx="5198269" cy="992981"/>
          </a:xfrm>
          <a:prstGeom prst="rect">
            <a:avLst/>
          </a:prstGeom>
        </p:spPr>
        <p:txBody>
          <a:bodyPr lIns="0" tIns="0" rIns="0" bIns="0" rtlCol="0" anchor="t">
            <a:spAutoFit/>
          </a:bodyPr>
          <a:lstStyle/>
          <a:p>
            <a:pPr algn="ctr">
              <a:lnSpc>
                <a:spcPts val="3562"/>
              </a:lnSpc>
            </a:pPr>
            <a:r>
              <a:rPr lang="en-US" sz="2187">
                <a:solidFill>
                  <a:srgbClr val="D6D9D7"/>
                </a:solidFill>
                <a:latin typeface="Inter"/>
                <a:ea typeface="Inter"/>
                <a:cs typeface="Inter"/>
                <a:sym typeface="Inter"/>
              </a:rPr>
              <a:t>Represented in subsequent climate negotiations with renewed urgency</a:t>
            </a:r>
          </a:p>
        </p:txBody>
      </p:sp>
      <p:sp>
        <p:nvSpPr>
          <p:cNvPr id="12" name="TextBox 12"/>
          <p:cNvSpPr txBox="1"/>
          <p:nvPr/>
        </p:nvSpPr>
        <p:spPr>
          <a:xfrm>
            <a:off x="6544866" y="6370290"/>
            <a:ext cx="5198269" cy="802184"/>
          </a:xfrm>
          <a:prstGeom prst="rect">
            <a:avLst/>
          </a:prstGeom>
        </p:spPr>
        <p:txBody>
          <a:bodyPr lIns="0" tIns="0" rIns="0" bIns="0" rtlCol="0" anchor="t">
            <a:spAutoFit/>
          </a:bodyPr>
          <a:lstStyle/>
          <a:p>
            <a:pPr algn="ctr">
              <a:lnSpc>
                <a:spcPts val="7312"/>
              </a:lnSpc>
            </a:pPr>
            <a:r>
              <a:rPr lang="en-US" sz="7312">
                <a:solidFill>
                  <a:srgbClr val="D6D9D7"/>
                </a:solidFill>
                <a:latin typeface="DM Sans"/>
                <a:ea typeface="DM Sans"/>
                <a:cs typeface="DM Sans"/>
                <a:sym typeface="DM Sans"/>
              </a:rPr>
              <a:t>50M</a:t>
            </a:r>
          </a:p>
        </p:txBody>
      </p:sp>
      <p:sp>
        <p:nvSpPr>
          <p:cNvPr id="13" name="TextBox 13"/>
          <p:cNvSpPr txBox="1"/>
          <p:nvPr/>
        </p:nvSpPr>
        <p:spPr>
          <a:xfrm>
            <a:off x="7371904" y="7517160"/>
            <a:ext cx="3544044" cy="452437"/>
          </a:xfrm>
          <a:prstGeom prst="rect">
            <a:avLst/>
          </a:prstGeom>
        </p:spPr>
        <p:txBody>
          <a:bodyPr lIns="0" tIns="0" rIns="0" bIns="0" rtlCol="0" anchor="t">
            <a:spAutoFit/>
          </a:bodyPr>
          <a:lstStyle/>
          <a:p>
            <a:pPr algn="ctr">
              <a:lnSpc>
                <a:spcPts val="3437"/>
              </a:lnSpc>
            </a:pPr>
            <a:r>
              <a:rPr lang="en-US" sz="2750">
                <a:solidFill>
                  <a:srgbClr val="D6D9D7"/>
                </a:solidFill>
                <a:latin typeface="DM Sans"/>
                <a:ea typeface="DM Sans"/>
                <a:cs typeface="DM Sans"/>
                <a:sym typeface="DM Sans"/>
              </a:rPr>
              <a:t>Film Viewers</a:t>
            </a:r>
          </a:p>
        </p:txBody>
      </p:sp>
      <p:sp>
        <p:nvSpPr>
          <p:cNvPr id="14" name="TextBox 14"/>
          <p:cNvSpPr txBox="1"/>
          <p:nvPr/>
        </p:nvSpPr>
        <p:spPr>
          <a:xfrm>
            <a:off x="6544866" y="8053982"/>
            <a:ext cx="5198269" cy="992981"/>
          </a:xfrm>
          <a:prstGeom prst="rect">
            <a:avLst/>
          </a:prstGeom>
        </p:spPr>
        <p:txBody>
          <a:bodyPr lIns="0" tIns="0" rIns="0" bIns="0" rtlCol="0" anchor="t">
            <a:spAutoFit/>
          </a:bodyPr>
          <a:lstStyle/>
          <a:p>
            <a:pPr algn="ctr">
              <a:lnSpc>
                <a:spcPts val="3562"/>
              </a:lnSpc>
            </a:pPr>
            <a:r>
              <a:rPr lang="en-US" sz="2187">
                <a:solidFill>
                  <a:srgbClr val="D6D9D7"/>
                </a:solidFill>
                <a:latin typeface="Inter"/>
                <a:ea typeface="Inter"/>
                <a:cs typeface="Inter"/>
                <a:sym typeface="Inter"/>
              </a:rPr>
              <a:t>Watched "An Inconvenient Truth" following the Nobel recognition</a:t>
            </a:r>
          </a:p>
        </p:txBody>
      </p:sp>
      <p:sp>
        <p:nvSpPr>
          <p:cNvPr id="15" name="TextBox 15"/>
          <p:cNvSpPr txBox="1"/>
          <p:nvPr/>
        </p:nvSpPr>
        <p:spPr>
          <a:xfrm>
            <a:off x="12097494" y="6370290"/>
            <a:ext cx="5198269" cy="802184"/>
          </a:xfrm>
          <a:prstGeom prst="rect">
            <a:avLst/>
          </a:prstGeom>
        </p:spPr>
        <p:txBody>
          <a:bodyPr lIns="0" tIns="0" rIns="0" bIns="0" rtlCol="0" anchor="t">
            <a:spAutoFit/>
          </a:bodyPr>
          <a:lstStyle/>
          <a:p>
            <a:pPr algn="ctr">
              <a:lnSpc>
                <a:spcPts val="7312"/>
              </a:lnSpc>
            </a:pPr>
            <a:r>
              <a:rPr lang="en-US" sz="7312">
                <a:solidFill>
                  <a:srgbClr val="D6D9D7"/>
                </a:solidFill>
                <a:latin typeface="DM Sans"/>
                <a:ea typeface="DM Sans"/>
                <a:cs typeface="DM Sans"/>
                <a:sym typeface="DM Sans"/>
              </a:rPr>
              <a:t>2008</a:t>
            </a:r>
          </a:p>
        </p:txBody>
      </p:sp>
      <p:sp>
        <p:nvSpPr>
          <p:cNvPr id="16" name="TextBox 16"/>
          <p:cNvSpPr txBox="1"/>
          <p:nvPr/>
        </p:nvSpPr>
        <p:spPr>
          <a:xfrm>
            <a:off x="12924533" y="7517160"/>
            <a:ext cx="3544044" cy="452437"/>
          </a:xfrm>
          <a:prstGeom prst="rect">
            <a:avLst/>
          </a:prstGeom>
        </p:spPr>
        <p:txBody>
          <a:bodyPr lIns="0" tIns="0" rIns="0" bIns="0" rtlCol="0" anchor="t">
            <a:spAutoFit/>
          </a:bodyPr>
          <a:lstStyle/>
          <a:p>
            <a:pPr algn="ctr">
              <a:lnSpc>
                <a:spcPts val="3437"/>
              </a:lnSpc>
            </a:pPr>
            <a:r>
              <a:rPr lang="en-US" sz="2750">
                <a:solidFill>
                  <a:srgbClr val="D6D9D7"/>
                </a:solidFill>
                <a:latin typeface="DM Sans"/>
                <a:ea typeface="DM Sans"/>
                <a:cs typeface="DM Sans"/>
                <a:sym typeface="DM Sans"/>
              </a:rPr>
              <a:t>Policy Momentum</a:t>
            </a:r>
          </a:p>
        </p:txBody>
      </p:sp>
      <p:sp>
        <p:nvSpPr>
          <p:cNvPr id="17" name="TextBox 17"/>
          <p:cNvSpPr txBox="1"/>
          <p:nvPr/>
        </p:nvSpPr>
        <p:spPr>
          <a:xfrm>
            <a:off x="12097494" y="8053982"/>
            <a:ext cx="5198269" cy="992981"/>
          </a:xfrm>
          <a:prstGeom prst="rect">
            <a:avLst/>
          </a:prstGeom>
        </p:spPr>
        <p:txBody>
          <a:bodyPr lIns="0" tIns="0" rIns="0" bIns="0" rtlCol="0" anchor="t">
            <a:spAutoFit/>
          </a:bodyPr>
          <a:lstStyle/>
          <a:p>
            <a:pPr algn="ctr">
              <a:lnSpc>
                <a:spcPts val="3562"/>
              </a:lnSpc>
            </a:pPr>
            <a:r>
              <a:rPr lang="en-US" sz="2187">
                <a:solidFill>
                  <a:srgbClr val="D6D9D7"/>
                </a:solidFill>
                <a:latin typeface="Inter"/>
                <a:ea typeface="Inter"/>
                <a:cs typeface="Inter"/>
                <a:sym typeface="Inter"/>
              </a:rPr>
              <a:t>Year when major climate legislation gained traction globally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11213"/>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D3133"/>
            </a:solidFill>
          </p:spPr>
        </p:sp>
      </p:grpSp>
      <p:sp>
        <p:nvSpPr>
          <p:cNvPr id="6" name="TextBox 6"/>
          <p:cNvSpPr txBox="1"/>
          <p:nvPr/>
        </p:nvSpPr>
        <p:spPr>
          <a:xfrm>
            <a:off x="992238" y="1631454"/>
            <a:ext cx="10217646" cy="905024"/>
          </a:xfrm>
          <a:prstGeom prst="rect">
            <a:avLst/>
          </a:prstGeom>
        </p:spPr>
        <p:txBody>
          <a:bodyPr lIns="0" tIns="0" rIns="0" bIns="0" rtlCol="0" anchor="t">
            <a:spAutoFit/>
          </a:bodyPr>
          <a:lstStyle/>
          <a:p>
            <a:pPr algn="l">
              <a:lnSpc>
                <a:spcPts val="6937"/>
              </a:lnSpc>
            </a:pPr>
            <a:r>
              <a:rPr lang="en-US" sz="5562">
                <a:solidFill>
                  <a:srgbClr val="F7F7F8"/>
                </a:solidFill>
                <a:latin typeface="DM Sans"/>
                <a:ea typeface="DM Sans"/>
                <a:cs typeface="DM Sans"/>
                <a:sym typeface="DM Sans"/>
              </a:rPr>
              <a:t>Transforming Global Discourse</a:t>
            </a:r>
          </a:p>
        </p:txBody>
      </p:sp>
      <p:grpSp>
        <p:nvGrpSpPr>
          <p:cNvPr id="7" name="Group 7"/>
          <p:cNvGrpSpPr/>
          <p:nvPr/>
        </p:nvGrpSpPr>
        <p:grpSpPr>
          <a:xfrm>
            <a:off x="9124950" y="3103512"/>
            <a:ext cx="38100" cy="5532835"/>
            <a:chOff x="0" y="0"/>
            <a:chExt cx="50800" cy="7377113"/>
          </a:xfrm>
        </p:grpSpPr>
        <p:sp>
          <p:nvSpPr>
            <p:cNvPr id="8" name="Freeform 8"/>
            <p:cNvSpPr/>
            <p:nvPr/>
          </p:nvSpPr>
          <p:spPr>
            <a:xfrm>
              <a:off x="0" y="0"/>
              <a:ext cx="50800" cy="7377176"/>
            </a:xfrm>
            <a:custGeom>
              <a:avLst/>
              <a:gdLst/>
              <a:ahLst/>
              <a:cxnLst/>
              <a:rect l="l" t="t" r="r" b="b"/>
              <a:pathLst>
                <a:path w="50800" h="7377176">
                  <a:moveTo>
                    <a:pt x="0" y="25400"/>
                  </a:moveTo>
                  <a:cubicBezTo>
                    <a:pt x="0" y="11430"/>
                    <a:pt x="11430" y="0"/>
                    <a:pt x="25400" y="0"/>
                  </a:cubicBezTo>
                  <a:cubicBezTo>
                    <a:pt x="39370" y="0"/>
                    <a:pt x="50800" y="11430"/>
                    <a:pt x="50800" y="25400"/>
                  </a:cubicBezTo>
                  <a:lnTo>
                    <a:pt x="50800" y="7351776"/>
                  </a:lnTo>
                  <a:cubicBezTo>
                    <a:pt x="50800" y="7365746"/>
                    <a:pt x="39370" y="7377176"/>
                    <a:pt x="25400" y="7377176"/>
                  </a:cubicBezTo>
                  <a:cubicBezTo>
                    <a:pt x="11430" y="7377176"/>
                    <a:pt x="0" y="7365746"/>
                    <a:pt x="0" y="7351776"/>
                  </a:cubicBezTo>
                  <a:close/>
                </a:path>
              </a:pathLst>
            </a:custGeom>
            <a:solidFill>
              <a:srgbClr val="65696B"/>
            </a:solidFill>
          </p:spPr>
        </p:sp>
      </p:grpSp>
      <p:grpSp>
        <p:nvGrpSpPr>
          <p:cNvPr id="9" name="Group 9"/>
          <p:cNvGrpSpPr/>
          <p:nvPr/>
        </p:nvGrpSpPr>
        <p:grpSpPr>
          <a:xfrm>
            <a:off x="8012609" y="3403401"/>
            <a:ext cx="850552" cy="38100"/>
            <a:chOff x="0" y="0"/>
            <a:chExt cx="1134070" cy="50800"/>
          </a:xfrm>
        </p:grpSpPr>
        <p:sp>
          <p:nvSpPr>
            <p:cNvPr id="10" name="Freeform 10"/>
            <p:cNvSpPr/>
            <p:nvPr/>
          </p:nvSpPr>
          <p:spPr>
            <a:xfrm>
              <a:off x="0" y="0"/>
              <a:ext cx="1134110" cy="50800"/>
            </a:xfrm>
            <a:custGeom>
              <a:avLst/>
              <a:gdLst/>
              <a:ahLst/>
              <a:cxnLst/>
              <a:rect l="l" t="t" r="r" b="b"/>
              <a:pathLst>
                <a:path w="1134110" h="50800">
                  <a:moveTo>
                    <a:pt x="0" y="25400"/>
                  </a:moveTo>
                  <a:cubicBezTo>
                    <a:pt x="0" y="11430"/>
                    <a:pt x="11430" y="0"/>
                    <a:pt x="25400" y="0"/>
                  </a:cubicBezTo>
                  <a:lnTo>
                    <a:pt x="1108710" y="0"/>
                  </a:lnTo>
                  <a:cubicBezTo>
                    <a:pt x="1122680" y="0"/>
                    <a:pt x="1134110" y="11430"/>
                    <a:pt x="1134110" y="25400"/>
                  </a:cubicBezTo>
                  <a:cubicBezTo>
                    <a:pt x="1134110" y="39370"/>
                    <a:pt x="1122680" y="50800"/>
                    <a:pt x="1108710" y="50800"/>
                  </a:cubicBezTo>
                  <a:lnTo>
                    <a:pt x="25400" y="50800"/>
                  </a:lnTo>
                  <a:cubicBezTo>
                    <a:pt x="11430" y="50800"/>
                    <a:pt x="0" y="39370"/>
                    <a:pt x="0" y="25400"/>
                  </a:cubicBezTo>
                  <a:close/>
                </a:path>
              </a:pathLst>
            </a:custGeom>
            <a:solidFill>
              <a:srgbClr val="65696B"/>
            </a:solidFill>
          </p:spPr>
        </p:sp>
      </p:grpSp>
      <p:grpSp>
        <p:nvGrpSpPr>
          <p:cNvPr id="11" name="Group 11"/>
          <p:cNvGrpSpPr/>
          <p:nvPr/>
        </p:nvGrpSpPr>
        <p:grpSpPr>
          <a:xfrm>
            <a:off x="8825061" y="3103512"/>
            <a:ext cx="637878" cy="637878"/>
            <a:chOff x="0" y="0"/>
            <a:chExt cx="850503" cy="850503"/>
          </a:xfrm>
        </p:grpSpPr>
        <p:sp>
          <p:nvSpPr>
            <p:cNvPr id="12" name="Freeform 12"/>
            <p:cNvSpPr/>
            <p:nvPr/>
          </p:nvSpPr>
          <p:spPr>
            <a:xfrm>
              <a:off x="0" y="0"/>
              <a:ext cx="850392" cy="850519"/>
            </a:xfrm>
            <a:custGeom>
              <a:avLst/>
              <a:gdLst/>
              <a:ahLst/>
              <a:cxnLst/>
              <a:rect l="l" t="t" r="r" b="b"/>
              <a:pathLst>
                <a:path w="850392" h="850519">
                  <a:moveTo>
                    <a:pt x="0" y="56642"/>
                  </a:moveTo>
                  <a:cubicBezTo>
                    <a:pt x="0" y="25400"/>
                    <a:pt x="25400" y="0"/>
                    <a:pt x="56642" y="0"/>
                  </a:cubicBezTo>
                  <a:lnTo>
                    <a:pt x="793750" y="0"/>
                  </a:lnTo>
                  <a:cubicBezTo>
                    <a:pt x="825119" y="0"/>
                    <a:pt x="850392" y="25400"/>
                    <a:pt x="850392" y="56642"/>
                  </a:cubicBezTo>
                  <a:lnTo>
                    <a:pt x="850392" y="793750"/>
                  </a:lnTo>
                  <a:cubicBezTo>
                    <a:pt x="850392" y="825119"/>
                    <a:pt x="824992" y="850392"/>
                    <a:pt x="793750" y="850392"/>
                  </a:cubicBezTo>
                  <a:lnTo>
                    <a:pt x="56642" y="850392"/>
                  </a:lnTo>
                  <a:cubicBezTo>
                    <a:pt x="25400" y="850519"/>
                    <a:pt x="0" y="825119"/>
                    <a:pt x="0" y="793750"/>
                  </a:cubicBezTo>
                  <a:close/>
                </a:path>
              </a:pathLst>
            </a:custGeom>
            <a:solidFill>
              <a:srgbClr val="4C5052"/>
            </a:solidFill>
          </p:spPr>
        </p:sp>
      </p:grpSp>
      <p:sp>
        <p:nvSpPr>
          <p:cNvPr id="13" name="TextBox 13"/>
          <p:cNvSpPr txBox="1"/>
          <p:nvPr/>
        </p:nvSpPr>
        <p:spPr>
          <a:xfrm>
            <a:off x="8931399" y="3213795"/>
            <a:ext cx="425203" cy="474464"/>
          </a:xfrm>
          <a:prstGeom prst="rect">
            <a:avLst/>
          </a:prstGeom>
        </p:spPr>
        <p:txBody>
          <a:bodyPr lIns="0" tIns="0" rIns="0" bIns="0" rtlCol="0" anchor="t">
            <a:spAutoFit/>
          </a:bodyPr>
          <a:lstStyle/>
          <a:p>
            <a:pPr algn="ctr">
              <a:lnSpc>
                <a:spcPts val="3312"/>
              </a:lnSpc>
            </a:pPr>
            <a:r>
              <a:rPr lang="en-US" sz="3312">
                <a:solidFill>
                  <a:srgbClr val="D6D9D7"/>
                </a:solidFill>
                <a:latin typeface="DM Sans"/>
                <a:ea typeface="DM Sans"/>
                <a:cs typeface="DM Sans"/>
                <a:sym typeface="DM Sans"/>
              </a:rPr>
              <a:t>1</a:t>
            </a:r>
          </a:p>
        </p:txBody>
      </p:sp>
      <p:sp>
        <p:nvSpPr>
          <p:cNvPr id="14" name="TextBox 14"/>
          <p:cNvSpPr txBox="1"/>
          <p:nvPr/>
        </p:nvSpPr>
        <p:spPr>
          <a:xfrm>
            <a:off x="3423048" y="3191321"/>
            <a:ext cx="4303365" cy="452437"/>
          </a:xfrm>
          <a:prstGeom prst="rect">
            <a:avLst/>
          </a:prstGeom>
        </p:spPr>
        <p:txBody>
          <a:bodyPr lIns="0" tIns="0" rIns="0" bIns="0" rtlCol="0" anchor="t">
            <a:spAutoFit/>
          </a:bodyPr>
          <a:lstStyle/>
          <a:p>
            <a:pPr algn="r">
              <a:lnSpc>
                <a:spcPts val="3437"/>
              </a:lnSpc>
            </a:pPr>
            <a:r>
              <a:rPr lang="en-US" sz="2750">
                <a:solidFill>
                  <a:srgbClr val="D6D9D7"/>
                </a:solidFill>
                <a:latin typeface="DM Sans"/>
                <a:ea typeface="DM Sans"/>
                <a:cs typeface="DM Sans"/>
                <a:sym typeface="DM Sans"/>
              </a:rPr>
              <a:t>Pre-2007: Scientific Issue</a:t>
            </a:r>
          </a:p>
        </p:txBody>
      </p:sp>
      <p:sp>
        <p:nvSpPr>
          <p:cNvPr id="15" name="TextBox 15"/>
          <p:cNvSpPr txBox="1"/>
          <p:nvPr/>
        </p:nvSpPr>
        <p:spPr>
          <a:xfrm>
            <a:off x="992238" y="3728145"/>
            <a:ext cx="6734175" cy="1446610"/>
          </a:xfrm>
          <a:prstGeom prst="rect">
            <a:avLst/>
          </a:prstGeom>
        </p:spPr>
        <p:txBody>
          <a:bodyPr lIns="0" tIns="0" rIns="0" bIns="0" rtlCol="0" anchor="t">
            <a:spAutoFit/>
          </a:bodyPr>
          <a:lstStyle/>
          <a:p>
            <a:pPr algn="r">
              <a:lnSpc>
                <a:spcPts val="3562"/>
              </a:lnSpc>
            </a:pPr>
            <a:r>
              <a:rPr lang="en-US" sz="2187">
                <a:solidFill>
                  <a:srgbClr val="D6D9D7"/>
                </a:solidFill>
                <a:latin typeface="Inter"/>
                <a:ea typeface="Inter"/>
                <a:cs typeface="Inter"/>
                <a:sym typeface="Inter"/>
              </a:rPr>
              <a:t>Climate change viewed primarily as an environmental or scientific concern, debated mainly in academic circles.</a:t>
            </a:r>
          </a:p>
        </p:txBody>
      </p:sp>
      <p:grpSp>
        <p:nvGrpSpPr>
          <p:cNvPr id="16" name="Group 16"/>
          <p:cNvGrpSpPr/>
          <p:nvPr/>
        </p:nvGrpSpPr>
        <p:grpSpPr>
          <a:xfrm>
            <a:off x="9424839" y="5104508"/>
            <a:ext cx="850553" cy="38100"/>
            <a:chOff x="0" y="0"/>
            <a:chExt cx="1134070" cy="50800"/>
          </a:xfrm>
        </p:grpSpPr>
        <p:sp>
          <p:nvSpPr>
            <p:cNvPr id="17" name="Freeform 17"/>
            <p:cNvSpPr/>
            <p:nvPr/>
          </p:nvSpPr>
          <p:spPr>
            <a:xfrm>
              <a:off x="0" y="0"/>
              <a:ext cx="1134110" cy="50800"/>
            </a:xfrm>
            <a:custGeom>
              <a:avLst/>
              <a:gdLst/>
              <a:ahLst/>
              <a:cxnLst/>
              <a:rect l="l" t="t" r="r" b="b"/>
              <a:pathLst>
                <a:path w="1134110" h="50800">
                  <a:moveTo>
                    <a:pt x="0" y="25400"/>
                  </a:moveTo>
                  <a:cubicBezTo>
                    <a:pt x="0" y="11430"/>
                    <a:pt x="11430" y="0"/>
                    <a:pt x="25400" y="0"/>
                  </a:cubicBezTo>
                  <a:lnTo>
                    <a:pt x="1108710" y="0"/>
                  </a:lnTo>
                  <a:cubicBezTo>
                    <a:pt x="1122680" y="0"/>
                    <a:pt x="1134110" y="11430"/>
                    <a:pt x="1134110" y="25400"/>
                  </a:cubicBezTo>
                  <a:cubicBezTo>
                    <a:pt x="1134110" y="39370"/>
                    <a:pt x="1122680" y="50800"/>
                    <a:pt x="1108710" y="50800"/>
                  </a:cubicBezTo>
                  <a:lnTo>
                    <a:pt x="25400" y="50800"/>
                  </a:lnTo>
                  <a:cubicBezTo>
                    <a:pt x="11430" y="50800"/>
                    <a:pt x="0" y="39370"/>
                    <a:pt x="0" y="25400"/>
                  </a:cubicBezTo>
                  <a:close/>
                </a:path>
              </a:pathLst>
            </a:custGeom>
            <a:solidFill>
              <a:srgbClr val="65696B"/>
            </a:solidFill>
          </p:spPr>
        </p:sp>
      </p:grpSp>
      <p:grpSp>
        <p:nvGrpSpPr>
          <p:cNvPr id="18" name="Group 18"/>
          <p:cNvGrpSpPr/>
          <p:nvPr/>
        </p:nvGrpSpPr>
        <p:grpSpPr>
          <a:xfrm>
            <a:off x="8825061" y="4804619"/>
            <a:ext cx="637878" cy="637878"/>
            <a:chOff x="0" y="0"/>
            <a:chExt cx="850503" cy="850503"/>
          </a:xfrm>
        </p:grpSpPr>
        <p:sp>
          <p:nvSpPr>
            <p:cNvPr id="19" name="Freeform 19"/>
            <p:cNvSpPr/>
            <p:nvPr/>
          </p:nvSpPr>
          <p:spPr>
            <a:xfrm>
              <a:off x="0" y="0"/>
              <a:ext cx="850392" cy="850519"/>
            </a:xfrm>
            <a:custGeom>
              <a:avLst/>
              <a:gdLst/>
              <a:ahLst/>
              <a:cxnLst/>
              <a:rect l="l" t="t" r="r" b="b"/>
              <a:pathLst>
                <a:path w="850392" h="850519">
                  <a:moveTo>
                    <a:pt x="0" y="56642"/>
                  </a:moveTo>
                  <a:cubicBezTo>
                    <a:pt x="0" y="25400"/>
                    <a:pt x="25400" y="0"/>
                    <a:pt x="56642" y="0"/>
                  </a:cubicBezTo>
                  <a:lnTo>
                    <a:pt x="793750" y="0"/>
                  </a:lnTo>
                  <a:cubicBezTo>
                    <a:pt x="825119" y="0"/>
                    <a:pt x="850392" y="25400"/>
                    <a:pt x="850392" y="56642"/>
                  </a:cubicBezTo>
                  <a:lnTo>
                    <a:pt x="850392" y="793750"/>
                  </a:lnTo>
                  <a:cubicBezTo>
                    <a:pt x="850392" y="825119"/>
                    <a:pt x="824992" y="850392"/>
                    <a:pt x="793750" y="850392"/>
                  </a:cubicBezTo>
                  <a:lnTo>
                    <a:pt x="56642" y="850392"/>
                  </a:lnTo>
                  <a:cubicBezTo>
                    <a:pt x="25400" y="850519"/>
                    <a:pt x="0" y="825119"/>
                    <a:pt x="0" y="793750"/>
                  </a:cubicBezTo>
                  <a:close/>
                </a:path>
              </a:pathLst>
            </a:custGeom>
            <a:solidFill>
              <a:srgbClr val="4C5052"/>
            </a:solidFill>
          </p:spPr>
        </p:sp>
      </p:grpSp>
      <p:sp>
        <p:nvSpPr>
          <p:cNvPr id="20" name="TextBox 20"/>
          <p:cNvSpPr txBox="1"/>
          <p:nvPr/>
        </p:nvSpPr>
        <p:spPr>
          <a:xfrm>
            <a:off x="8931399" y="4914900"/>
            <a:ext cx="425203" cy="474464"/>
          </a:xfrm>
          <a:prstGeom prst="rect">
            <a:avLst/>
          </a:prstGeom>
        </p:spPr>
        <p:txBody>
          <a:bodyPr lIns="0" tIns="0" rIns="0" bIns="0" rtlCol="0" anchor="t">
            <a:spAutoFit/>
          </a:bodyPr>
          <a:lstStyle/>
          <a:p>
            <a:pPr algn="ctr">
              <a:lnSpc>
                <a:spcPts val="3312"/>
              </a:lnSpc>
            </a:pPr>
            <a:r>
              <a:rPr lang="en-US" sz="3312">
                <a:solidFill>
                  <a:srgbClr val="D6D9D7"/>
                </a:solidFill>
                <a:latin typeface="DM Sans"/>
                <a:ea typeface="DM Sans"/>
                <a:cs typeface="DM Sans"/>
                <a:sym typeface="DM Sans"/>
              </a:rPr>
              <a:t>2</a:t>
            </a:r>
          </a:p>
        </p:txBody>
      </p:sp>
      <p:sp>
        <p:nvSpPr>
          <p:cNvPr id="21" name="TextBox 21"/>
          <p:cNvSpPr txBox="1"/>
          <p:nvPr/>
        </p:nvSpPr>
        <p:spPr>
          <a:xfrm>
            <a:off x="10561587" y="4892427"/>
            <a:ext cx="3544044" cy="452437"/>
          </a:xfrm>
          <a:prstGeom prst="rect">
            <a:avLst/>
          </a:prstGeom>
        </p:spPr>
        <p:txBody>
          <a:bodyPr lIns="0" tIns="0" rIns="0" bIns="0" rtlCol="0" anchor="t">
            <a:spAutoFit/>
          </a:bodyPr>
          <a:lstStyle/>
          <a:p>
            <a:pPr algn="l">
              <a:lnSpc>
                <a:spcPts val="3437"/>
              </a:lnSpc>
            </a:pPr>
            <a:r>
              <a:rPr lang="en-US" sz="2750">
                <a:solidFill>
                  <a:srgbClr val="D6D9D7"/>
                </a:solidFill>
                <a:latin typeface="DM Sans"/>
                <a:ea typeface="DM Sans"/>
                <a:cs typeface="DM Sans"/>
                <a:sym typeface="DM Sans"/>
              </a:rPr>
              <a:t>2007: Peace Issue</a:t>
            </a:r>
          </a:p>
        </p:txBody>
      </p:sp>
      <p:sp>
        <p:nvSpPr>
          <p:cNvPr id="22" name="TextBox 22"/>
          <p:cNvSpPr txBox="1"/>
          <p:nvPr/>
        </p:nvSpPr>
        <p:spPr>
          <a:xfrm>
            <a:off x="10561587" y="5429250"/>
            <a:ext cx="6734175" cy="1446610"/>
          </a:xfrm>
          <a:prstGeom prst="rect">
            <a:avLst/>
          </a:prstGeom>
        </p:spPr>
        <p:txBody>
          <a:bodyPr lIns="0" tIns="0" rIns="0" bIns="0" rtlCol="0" anchor="t">
            <a:spAutoFit/>
          </a:bodyPr>
          <a:lstStyle/>
          <a:p>
            <a:pPr algn="l">
              <a:lnSpc>
                <a:spcPts val="3562"/>
              </a:lnSpc>
            </a:pPr>
            <a:r>
              <a:rPr lang="en-US" sz="2187">
                <a:solidFill>
                  <a:srgbClr val="D6D9D7"/>
                </a:solidFill>
                <a:latin typeface="Inter"/>
                <a:ea typeface="Inter"/>
                <a:cs typeface="Inter"/>
                <a:sym typeface="Inter"/>
              </a:rPr>
              <a:t>Nobel Prize reframes climate change as a security threat requiring urgent international cooperation and diplomatic solutions.</a:t>
            </a:r>
          </a:p>
        </p:txBody>
      </p:sp>
      <p:grpSp>
        <p:nvGrpSpPr>
          <p:cNvPr id="23" name="Group 23"/>
          <p:cNvGrpSpPr/>
          <p:nvPr/>
        </p:nvGrpSpPr>
        <p:grpSpPr>
          <a:xfrm>
            <a:off x="8012609" y="6570761"/>
            <a:ext cx="850552" cy="38100"/>
            <a:chOff x="0" y="0"/>
            <a:chExt cx="1134070" cy="50800"/>
          </a:xfrm>
        </p:grpSpPr>
        <p:sp>
          <p:nvSpPr>
            <p:cNvPr id="24" name="Freeform 24"/>
            <p:cNvSpPr/>
            <p:nvPr/>
          </p:nvSpPr>
          <p:spPr>
            <a:xfrm>
              <a:off x="0" y="0"/>
              <a:ext cx="1134110" cy="50800"/>
            </a:xfrm>
            <a:custGeom>
              <a:avLst/>
              <a:gdLst/>
              <a:ahLst/>
              <a:cxnLst/>
              <a:rect l="l" t="t" r="r" b="b"/>
              <a:pathLst>
                <a:path w="1134110" h="50800">
                  <a:moveTo>
                    <a:pt x="0" y="25400"/>
                  </a:moveTo>
                  <a:cubicBezTo>
                    <a:pt x="0" y="11430"/>
                    <a:pt x="11430" y="0"/>
                    <a:pt x="25400" y="0"/>
                  </a:cubicBezTo>
                  <a:lnTo>
                    <a:pt x="1108710" y="0"/>
                  </a:lnTo>
                  <a:cubicBezTo>
                    <a:pt x="1122680" y="0"/>
                    <a:pt x="1134110" y="11430"/>
                    <a:pt x="1134110" y="25400"/>
                  </a:cubicBezTo>
                  <a:cubicBezTo>
                    <a:pt x="1134110" y="39370"/>
                    <a:pt x="1122680" y="50800"/>
                    <a:pt x="1108710" y="50800"/>
                  </a:cubicBezTo>
                  <a:lnTo>
                    <a:pt x="25400" y="50800"/>
                  </a:lnTo>
                  <a:cubicBezTo>
                    <a:pt x="11430" y="50800"/>
                    <a:pt x="0" y="39370"/>
                    <a:pt x="0" y="25400"/>
                  </a:cubicBezTo>
                  <a:close/>
                </a:path>
              </a:pathLst>
            </a:custGeom>
            <a:solidFill>
              <a:srgbClr val="65696B"/>
            </a:solidFill>
          </p:spPr>
        </p:sp>
      </p:grpSp>
      <p:grpSp>
        <p:nvGrpSpPr>
          <p:cNvPr id="25" name="Group 25"/>
          <p:cNvGrpSpPr/>
          <p:nvPr/>
        </p:nvGrpSpPr>
        <p:grpSpPr>
          <a:xfrm>
            <a:off x="8825061" y="6270872"/>
            <a:ext cx="637878" cy="637877"/>
            <a:chOff x="0" y="0"/>
            <a:chExt cx="850503" cy="850503"/>
          </a:xfrm>
        </p:grpSpPr>
        <p:sp>
          <p:nvSpPr>
            <p:cNvPr id="26" name="Freeform 26"/>
            <p:cNvSpPr/>
            <p:nvPr/>
          </p:nvSpPr>
          <p:spPr>
            <a:xfrm>
              <a:off x="0" y="0"/>
              <a:ext cx="850392" cy="850519"/>
            </a:xfrm>
            <a:custGeom>
              <a:avLst/>
              <a:gdLst/>
              <a:ahLst/>
              <a:cxnLst/>
              <a:rect l="l" t="t" r="r" b="b"/>
              <a:pathLst>
                <a:path w="850392" h="850519">
                  <a:moveTo>
                    <a:pt x="0" y="56642"/>
                  </a:moveTo>
                  <a:cubicBezTo>
                    <a:pt x="0" y="25400"/>
                    <a:pt x="25400" y="0"/>
                    <a:pt x="56642" y="0"/>
                  </a:cubicBezTo>
                  <a:lnTo>
                    <a:pt x="793750" y="0"/>
                  </a:lnTo>
                  <a:cubicBezTo>
                    <a:pt x="825119" y="0"/>
                    <a:pt x="850392" y="25400"/>
                    <a:pt x="850392" y="56642"/>
                  </a:cubicBezTo>
                  <a:lnTo>
                    <a:pt x="850392" y="793750"/>
                  </a:lnTo>
                  <a:cubicBezTo>
                    <a:pt x="850392" y="825119"/>
                    <a:pt x="824992" y="850392"/>
                    <a:pt x="793750" y="850392"/>
                  </a:cubicBezTo>
                  <a:lnTo>
                    <a:pt x="56642" y="850392"/>
                  </a:lnTo>
                  <a:cubicBezTo>
                    <a:pt x="25400" y="850519"/>
                    <a:pt x="0" y="825119"/>
                    <a:pt x="0" y="793750"/>
                  </a:cubicBezTo>
                  <a:close/>
                </a:path>
              </a:pathLst>
            </a:custGeom>
            <a:solidFill>
              <a:srgbClr val="4C5052"/>
            </a:solidFill>
          </p:spPr>
        </p:sp>
      </p:grpSp>
      <p:sp>
        <p:nvSpPr>
          <p:cNvPr id="27" name="TextBox 27"/>
          <p:cNvSpPr txBox="1"/>
          <p:nvPr/>
        </p:nvSpPr>
        <p:spPr>
          <a:xfrm>
            <a:off x="8931399" y="6381155"/>
            <a:ext cx="425203" cy="474464"/>
          </a:xfrm>
          <a:prstGeom prst="rect">
            <a:avLst/>
          </a:prstGeom>
        </p:spPr>
        <p:txBody>
          <a:bodyPr lIns="0" tIns="0" rIns="0" bIns="0" rtlCol="0" anchor="t">
            <a:spAutoFit/>
          </a:bodyPr>
          <a:lstStyle/>
          <a:p>
            <a:pPr algn="ctr">
              <a:lnSpc>
                <a:spcPts val="3312"/>
              </a:lnSpc>
            </a:pPr>
            <a:r>
              <a:rPr lang="en-US" sz="3312">
                <a:solidFill>
                  <a:srgbClr val="D6D9D7"/>
                </a:solidFill>
                <a:latin typeface="DM Sans"/>
                <a:ea typeface="DM Sans"/>
                <a:cs typeface="DM Sans"/>
                <a:sym typeface="DM Sans"/>
              </a:rPr>
              <a:t>3</a:t>
            </a:r>
          </a:p>
        </p:txBody>
      </p:sp>
      <p:sp>
        <p:nvSpPr>
          <p:cNvPr id="28" name="TextBox 28"/>
          <p:cNvSpPr txBox="1"/>
          <p:nvPr/>
        </p:nvSpPr>
        <p:spPr>
          <a:xfrm>
            <a:off x="3379440" y="6358681"/>
            <a:ext cx="4346972" cy="452437"/>
          </a:xfrm>
          <a:prstGeom prst="rect">
            <a:avLst/>
          </a:prstGeom>
        </p:spPr>
        <p:txBody>
          <a:bodyPr lIns="0" tIns="0" rIns="0" bIns="0" rtlCol="0" anchor="t">
            <a:spAutoFit/>
          </a:bodyPr>
          <a:lstStyle/>
          <a:p>
            <a:pPr algn="r">
              <a:lnSpc>
                <a:spcPts val="3437"/>
              </a:lnSpc>
            </a:pPr>
            <a:r>
              <a:rPr lang="en-US" sz="2750">
                <a:solidFill>
                  <a:srgbClr val="D6D9D7"/>
                </a:solidFill>
                <a:latin typeface="DM Sans"/>
                <a:ea typeface="DM Sans"/>
                <a:cs typeface="DM Sans"/>
                <a:sym typeface="DM Sans"/>
              </a:rPr>
              <a:t>Post-2007: Global Priority</a:t>
            </a:r>
          </a:p>
        </p:txBody>
      </p:sp>
      <p:sp>
        <p:nvSpPr>
          <p:cNvPr id="29" name="TextBox 29"/>
          <p:cNvSpPr txBox="1"/>
          <p:nvPr/>
        </p:nvSpPr>
        <p:spPr>
          <a:xfrm>
            <a:off x="992238" y="6895505"/>
            <a:ext cx="6734175" cy="1446610"/>
          </a:xfrm>
          <a:prstGeom prst="rect">
            <a:avLst/>
          </a:prstGeom>
        </p:spPr>
        <p:txBody>
          <a:bodyPr lIns="0" tIns="0" rIns="0" bIns="0" rtlCol="0" anchor="t">
            <a:spAutoFit/>
          </a:bodyPr>
          <a:lstStyle/>
          <a:p>
            <a:pPr algn="r">
              <a:lnSpc>
                <a:spcPts val="3562"/>
              </a:lnSpc>
            </a:pPr>
            <a:r>
              <a:rPr lang="en-US" sz="2187">
                <a:solidFill>
                  <a:srgbClr val="D6D9D7"/>
                </a:solidFill>
                <a:latin typeface="Inter"/>
                <a:ea typeface="Inter"/>
                <a:cs typeface="Inter"/>
                <a:sym typeface="Inter"/>
              </a:rPr>
              <a:t>Climate action becomes central to international relations, with peace and security implications recognised at the highest levels.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11213"/>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D3133"/>
            </a:solidFill>
          </p:spPr>
        </p:sp>
      </p:grpSp>
      <p:grpSp>
        <p:nvGrpSpPr>
          <p:cNvPr id="6" name="Group 6"/>
          <p:cNvGrpSpPr>
            <a:grpSpLocks noChangeAspect="1"/>
          </p:cNvGrpSpPr>
          <p:nvPr/>
        </p:nvGrpSpPr>
        <p:grpSpPr>
          <a:xfrm>
            <a:off x="16049019" y="9686925"/>
            <a:ext cx="2153256" cy="514350"/>
            <a:chOff x="0" y="0"/>
            <a:chExt cx="2871008" cy="685800"/>
          </a:xfrm>
        </p:grpSpPr>
        <p:sp>
          <p:nvSpPr>
            <p:cNvPr id="7" name="Freeform 7" descr="preencoded.png">
              <a:hlinkClick r:id="rId3" tooltip="https://gamma.app/?utm_source=made-with-gamma"/>
            </p:cNvPr>
            <p:cNvSpPr/>
            <p:nvPr/>
          </p:nvSpPr>
          <p:spPr>
            <a:xfrm>
              <a:off x="0" y="0"/>
              <a:ext cx="2870962" cy="685800"/>
            </a:xfrm>
            <a:custGeom>
              <a:avLst/>
              <a:gdLst/>
              <a:ahLst/>
              <a:cxnLst/>
              <a:rect l="l" t="t" r="r" b="b"/>
              <a:pathLst>
                <a:path w="2870962" h="685800">
                  <a:moveTo>
                    <a:pt x="0" y="0"/>
                  </a:moveTo>
                  <a:lnTo>
                    <a:pt x="2870962" y="0"/>
                  </a:lnTo>
                  <a:lnTo>
                    <a:pt x="2870962" y="685800"/>
                  </a:lnTo>
                  <a:lnTo>
                    <a:pt x="0" y="685800"/>
                  </a:lnTo>
                  <a:lnTo>
                    <a:pt x="0" y="0"/>
                  </a:lnTo>
                  <a:close/>
                </a:path>
              </a:pathLst>
            </a:custGeom>
            <a:blipFill>
              <a:blip r:embed="rId4"/>
              <a:stretch>
                <a:fillRect r="-1"/>
              </a:stretch>
            </a:blipFill>
          </p:spPr>
        </p:sp>
      </p:grpSp>
      <p:grpSp>
        <p:nvGrpSpPr>
          <p:cNvPr id="8" name="Group 8"/>
          <p:cNvGrpSpPr>
            <a:grpSpLocks noChangeAspect="1"/>
          </p:cNvGrpSpPr>
          <p:nvPr/>
        </p:nvGrpSpPr>
        <p:grpSpPr>
          <a:xfrm>
            <a:off x="11430000" y="0"/>
            <a:ext cx="6858000" cy="10287000"/>
            <a:chOff x="0" y="0"/>
            <a:chExt cx="9144000" cy="13716000"/>
          </a:xfrm>
        </p:grpSpPr>
        <p:sp>
          <p:nvSpPr>
            <p:cNvPr id="9" name="Freeform 9"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5"/>
              <a:stretch>
                <a:fillRect/>
              </a:stretch>
            </a:blipFill>
          </p:spPr>
        </p:sp>
      </p:grpSp>
      <p:sp>
        <p:nvSpPr>
          <p:cNvPr id="10" name="TextBox 10"/>
          <p:cNvSpPr txBox="1"/>
          <p:nvPr/>
        </p:nvSpPr>
        <p:spPr>
          <a:xfrm>
            <a:off x="806351" y="962917"/>
            <a:ext cx="9244905" cy="748456"/>
          </a:xfrm>
          <a:prstGeom prst="rect">
            <a:avLst/>
          </a:prstGeom>
        </p:spPr>
        <p:txBody>
          <a:bodyPr lIns="0" tIns="0" rIns="0" bIns="0" rtlCol="0" anchor="t">
            <a:spAutoFit/>
          </a:bodyPr>
          <a:lstStyle/>
          <a:p>
            <a:pPr algn="l">
              <a:lnSpc>
                <a:spcPts val="5625"/>
              </a:lnSpc>
            </a:pPr>
            <a:r>
              <a:rPr lang="en-US" sz="4499">
                <a:solidFill>
                  <a:srgbClr val="F7F7F8"/>
                </a:solidFill>
                <a:latin typeface="DM Sans"/>
                <a:ea typeface="DM Sans"/>
                <a:cs typeface="DM Sans"/>
                <a:sym typeface="DM Sans"/>
              </a:rPr>
              <a:t>Legacy: Science Meets Diplomacy</a:t>
            </a:r>
          </a:p>
        </p:txBody>
      </p:sp>
      <p:sp>
        <p:nvSpPr>
          <p:cNvPr id="11" name="TextBox 11"/>
          <p:cNvSpPr txBox="1"/>
          <p:nvPr/>
        </p:nvSpPr>
        <p:spPr>
          <a:xfrm>
            <a:off x="1151930" y="2249389"/>
            <a:ext cx="9471720" cy="1172170"/>
          </a:xfrm>
          <a:prstGeom prst="rect">
            <a:avLst/>
          </a:prstGeom>
        </p:spPr>
        <p:txBody>
          <a:bodyPr lIns="0" tIns="0" rIns="0" bIns="0" rtlCol="0" anchor="t">
            <a:spAutoFit/>
          </a:bodyPr>
          <a:lstStyle/>
          <a:p>
            <a:pPr algn="l">
              <a:lnSpc>
                <a:spcPts val="2875"/>
              </a:lnSpc>
            </a:pPr>
            <a:r>
              <a:rPr lang="en-US" sz="1812">
                <a:solidFill>
                  <a:srgbClr val="D6D9D7"/>
                </a:solidFill>
                <a:latin typeface="Inter"/>
                <a:ea typeface="Inter"/>
                <a:cs typeface="Inter"/>
                <a:sym typeface="Inter"/>
              </a:rPr>
              <a:t>"The IPCC and Al Gore have made the world conscious of the danger posed by climate change. They have laid the foundation for the measures that are needed to counteract such change."</a:t>
            </a:r>
          </a:p>
        </p:txBody>
      </p:sp>
      <p:grpSp>
        <p:nvGrpSpPr>
          <p:cNvPr id="12" name="Group 12"/>
          <p:cNvGrpSpPr/>
          <p:nvPr/>
        </p:nvGrpSpPr>
        <p:grpSpPr>
          <a:xfrm>
            <a:off x="806351" y="2056954"/>
            <a:ext cx="28575" cy="1623715"/>
            <a:chOff x="0" y="0"/>
            <a:chExt cx="38100" cy="2164953"/>
          </a:xfrm>
        </p:grpSpPr>
        <p:sp>
          <p:nvSpPr>
            <p:cNvPr id="13" name="Freeform 13"/>
            <p:cNvSpPr/>
            <p:nvPr/>
          </p:nvSpPr>
          <p:spPr>
            <a:xfrm>
              <a:off x="0" y="0"/>
              <a:ext cx="38100" cy="2164969"/>
            </a:xfrm>
            <a:custGeom>
              <a:avLst/>
              <a:gdLst/>
              <a:ahLst/>
              <a:cxnLst/>
              <a:rect l="l" t="t" r="r" b="b"/>
              <a:pathLst>
                <a:path w="38100" h="2164969">
                  <a:moveTo>
                    <a:pt x="0" y="0"/>
                  </a:moveTo>
                  <a:lnTo>
                    <a:pt x="38100" y="0"/>
                  </a:lnTo>
                  <a:lnTo>
                    <a:pt x="38100" y="2164969"/>
                  </a:lnTo>
                  <a:lnTo>
                    <a:pt x="0" y="2164969"/>
                  </a:lnTo>
                  <a:close/>
                </a:path>
              </a:pathLst>
            </a:custGeom>
            <a:solidFill>
              <a:srgbClr val="AC9EF5"/>
            </a:solidFill>
          </p:spPr>
        </p:sp>
      </p:grpSp>
      <p:sp>
        <p:nvSpPr>
          <p:cNvPr id="14" name="TextBox 14"/>
          <p:cNvSpPr txBox="1"/>
          <p:nvPr/>
        </p:nvSpPr>
        <p:spPr>
          <a:xfrm>
            <a:off x="806351" y="3873104"/>
            <a:ext cx="9817299" cy="435174"/>
          </a:xfrm>
          <a:prstGeom prst="rect">
            <a:avLst/>
          </a:prstGeom>
        </p:spPr>
        <p:txBody>
          <a:bodyPr lIns="0" tIns="0" rIns="0" bIns="0" rtlCol="0" anchor="t">
            <a:spAutoFit/>
          </a:bodyPr>
          <a:lstStyle/>
          <a:p>
            <a:pPr algn="l">
              <a:lnSpc>
                <a:spcPts val="2875"/>
              </a:lnSpc>
            </a:pPr>
            <a:r>
              <a:rPr lang="en-US" sz="1812" i="1">
                <a:solidFill>
                  <a:srgbClr val="D6D9D7"/>
                </a:solidFill>
                <a:latin typeface="Inter Italics"/>
                <a:ea typeface="Inter Italics"/>
                <a:cs typeface="Inter Italics"/>
                <a:sym typeface="Inter Italics"/>
              </a:rPr>
              <a:t>— Norwegian Nobel Committee, 2007</a:t>
            </a:r>
          </a:p>
        </p:txBody>
      </p:sp>
      <p:grpSp>
        <p:nvGrpSpPr>
          <p:cNvPr id="15" name="Group 15"/>
          <p:cNvGrpSpPr/>
          <p:nvPr/>
        </p:nvGrpSpPr>
        <p:grpSpPr>
          <a:xfrm>
            <a:off x="806351" y="4567386"/>
            <a:ext cx="9817299" cy="2248793"/>
            <a:chOff x="0" y="0"/>
            <a:chExt cx="13089732" cy="2998390"/>
          </a:xfrm>
        </p:grpSpPr>
        <p:sp>
          <p:nvSpPr>
            <p:cNvPr id="16" name="Freeform 16"/>
            <p:cNvSpPr/>
            <p:nvPr/>
          </p:nvSpPr>
          <p:spPr>
            <a:xfrm>
              <a:off x="0" y="0"/>
              <a:ext cx="13089764" cy="2998343"/>
            </a:xfrm>
            <a:custGeom>
              <a:avLst/>
              <a:gdLst/>
              <a:ahLst/>
              <a:cxnLst/>
              <a:rect l="l" t="t" r="r" b="b"/>
              <a:pathLst>
                <a:path w="13089764" h="2998343">
                  <a:moveTo>
                    <a:pt x="0" y="46101"/>
                  </a:moveTo>
                  <a:cubicBezTo>
                    <a:pt x="0" y="20574"/>
                    <a:pt x="20574" y="0"/>
                    <a:pt x="46101" y="0"/>
                  </a:cubicBezTo>
                  <a:lnTo>
                    <a:pt x="13043663" y="0"/>
                  </a:lnTo>
                  <a:cubicBezTo>
                    <a:pt x="13069063" y="0"/>
                    <a:pt x="13089764" y="20574"/>
                    <a:pt x="13089764" y="46101"/>
                  </a:cubicBezTo>
                  <a:lnTo>
                    <a:pt x="13089764" y="2952242"/>
                  </a:lnTo>
                  <a:cubicBezTo>
                    <a:pt x="13089764" y="2977642"/>
                    <a:pt x="13069190" y="2998343"/>
                    <a:pt x="13043663" y="2998343"/>
                  </a:cubicBezTo>
                  <a:lnTo>
                    <a:pt x="46101" y="2998343"/>
                  </a:lnTo>
                  <a:cubicBezTo>
                    <a:pt x="20701" y="2998343"/>
                    <a:pt x="0" y="2977769"/>
                    <a:pt x="0" y="2952242"/>
                  </a:cubicBezTo>
                  <a:close/>
                </a:path>
              </a:pathLst>
            </a:custGeom>
            <a:solidFill>
              <a:srgbClr val="4C5052"/>
            </a:solidFill>
          </p:spPr>
        </p:sp>
      </p:grpSp>
      <p:grpSp>
        <p:nvGrpSpPr>
          <p:cNvPr id="17" name="Group 17"/>
          <p:cNvGrpSpPr/>
          <p:nvPr/>
        </p:nvGrpSpPr>
        <p:grpSpPr>
          <a:xfrm>
            <a:off x="1036736" y="4797772"/>
            <a:ext cx="691157" cy="691157"/>
            <a:chOff x="0" y="0"/>
            <a:chExt cx="921543" cy="921543"/>
          </a:xfrm>
        </p:grpSpPr>
        <p:sp>
          <p:nvSpPr>
            <p:cNvPr id="18" name="Freeform 18"/>
            <p:cNvSpPr/>
            <p:nvPr/>
          </p:nvSpPr>
          <p:spPr>
            <a:xfrm>
              <a:off x="0" y="0"/>
              <a:ext cx="921512" cy="921512"/>
            </a:xfrm>
            <a:custGeom>
              <a:avLst/>
              <a:gdLst/>
              <a:ahLst/>
              <a:cxnLst/>
              <a:rect l="l" t="t" r="r" b="b"/>
              <a:pathLst>
                <a:path w="921512" h="921512">
                  <a:moveTo>
                    <a:pt x="0" y="460756"/>
                  </a:moveTo>
                  <a:cubicBezTo>
                    <a:pt x="0" y="206248"/>
                    <a:pt x="206248" y="0"/>
                    <a:pt x="460756" y="0"/>
                  </a:cubicBezTo>
                  <a:cubicBezTo>
                    <a:pt x="715264" y="0"/>
                    <a:pt x="921512" y="206248"/>
                    <a:pt x="921512" y="460756"/>
                  </a:cubicBezTo>
                  <a:cubicBezTo>
                    <a:pt x="921512" y="715264"/>
                    <a:pt x="715264" y="921512"/>
                    <a:pt x="460756" y="921512"/>
                  </a:cubicBezTo>
                  <a:cubicBezTo>
                    <a:pt x="206248" y="921512"/>
                    <a:pt x="0" y="715264"/>
                    <a:pt x="0" y="460756"/>
                  </a:cubicBezTo>
                  <a:close/>
                </a:path>
              </a:pathLst>
            </a:custGeom>
            <a:solidFill>
              <a:srgbClr val="AC9EF5"/>
            </a:solidFill>
          </p:spPr>
        </p:sp>
      </p:grpSp>
      <p:grpSp>
        <p:nvGrpSpPr>
          <p:cNvPr id="19" name="Group 19"/>
          <p:cNvGrpSpPr>
            <a:grpSpLocks noChangeAspect="1"/>
          </p:cNvGrpSpPr>
          <p:nvPr/>
        </p:nvGrpSpPr>
        <p:grpSpPr>
          <a:xfrm>
            <a:off x="1226790" y="4948981"/>
            <a:ext cx="310903" cy="388739"/>
            <a:chOff x="0" y="0"/>
            <a:chExt cx="414537" cy="518318"/>
          </a:xfrm>
        </p:grpSpPr>
        <p:sp>
          <p:nvSpPr>
            <p:cNvPr id="20" name="Freeform 20" descr="preencoded.png"/>
            <p:cNvSpPr/>
            <p:nvPr/>
          </p:nvSpPr>
          <p:spPr>
            <a:xfrm>
              <a:off x="0" y="0"/>
              <a:ext cx="414528" cy="518287"/>
            </a:xfrm>
            <a:custGeom>
              <a:avLst/>
              <a:gdLst/>
              <a:ahLst/>
              <a:cxnLst/>
              <a:rect l="l" t="t" r="r" b="b"/>
              <a:pathLst>
                <a:path w="414528" h="518287">
                  <a:moveTo>
                    <a:pt x="0" y="0"/>
                  </a:moveTo>
                  <a:lnTo>
                    <a:pt x="414528" y="0"/>
                  </a:lnTo>
                  <a:lnTo>
                    <a:pt x="414528" y="518287"/>
                  </a:lnTo>
                  <a:lnTo>
                    <a:pt x="0" y="518287"/>
                  </a:lnTo>
                  <a:lnTo>
                    <a:pt x="0" y="0"/>
                  </a:lnTo>
                  <a:close/>
                </a:path>
              </a:pathLst>
            </a:custGeom>
            <a:blipFill>
              <a:blip r:embed="rId6"/>
              <a:stretch>
                <a:fillRect l="-319" r="-321" b="-6"/>
              </a:stretch>
            </a:blipFill>
          </p:spPr>
        </p:sp>
      </p:grpSp>
      <p:sp>
        <p:nvSpPr>
          <p:cNvPr id="21" name="TextBox 21"/>
          <p:cNvSpPr txBox="1"/>
          <p:nvPr/>
        </p:nvSpPr>
        <p:spPr>
          <a:xfrm>
            <a:off x="1036736" y="5700266"/>
            <a:ext cx="2879824" cy="378916"/>
          </a:xfrm>
          <a:prstGeom prst="rect">
            <a:avLst/>
          </a:prstGeom>
        </p:spPr>
        <p:txBody>
          <a:bodyPr lIns="0" tIns="0" rIns="0" bIns="0" rtlCol="0" anchor="t">
            <a:spAutoFit/>
          </a:bodyPr>
          <a:lstStyle/>
          <a:p>
            <a:pPr algn="l">
              <a:lnSpc>
                <a:spcPts val="2812"/>
              </a:lnSpc>
            </a:pPr>
            <a:r>
              <a:rPr lang="en-US" sz="2249">
                <a:solidFill>
                  <a:srgbClr val="D6D9D7"/>
                </a:solidFill>
                <a:latin typeface="DM Sans"/>
                <a:ea typeface="DM Sans"/>
                <a:cs typeface="DM Sans"/>
                <a:sym typeface="DM Sans"/>
              </a:rPr>
              <a:t>Scientific Credibility</a:t>
            </a:r>
          </a:p>
        </p:txBody>
      </p:sp>
      <p:sp>
        <p:nvSpPr>
          <p:cNvPr id="22" name="TextBox 22"/>
          <p:cNvSpPr txBox="1"/>
          <p:nvPr/>
        </p:nvSpPr>
        <p:spPr>
          <a:xfrm>
            <a:off x="1036736" y="6150620"/>
            <a:ext cx="9356526" cy="435174"/>
          </a:xfrm>
          <a:prstGeom prst="rect">
            <a:avLst/>
          </a:prstGeom>
        </p:spPr>
        <p:txBody>
          <a:bodyPr lIns="0" tIns="0" rIns="0" bIns="0" rtlCol="0" anchor="t">
            <a:spAutoFit/>
          </a:bodyPr>
          <a:lstStyle/>
          <a:p>
            <a:pPr algn="l">
              <a:lnSpc>
                <a:spcPts val="2875"/>
              </a:lnSpc>
            </a:pPr>
            <a:r>
              <a:rPr lang="en-US" sz="1812">
                <a:solidFill>
                  <a:srgbClr val="D6D9D7"/>
                </a:solidFill>
                <a:latin typeface="Inter"/>
                <a:ea typeface="Inter"/>
                <a:cs typeface="Inter"/>
                <a:sym typeface="Inter"/>
              </a:rPr>
              <a:t>Established climate science as unequivocal basis for policy action</a:t>
            </a:r>
          </a:p>
        </p:txBody>
      </p:sp>
      <p:grpSp>
        <p:nvGrpSpPr>
          <p:cNvPr id="23" name="Group 23"/>
          <p:cNvGrpSpPr/>
          <p:nvPr/>
        </p:nvGrpSpPr>
        <p:grpSpPr>
          <a:xfrm>
            <a:off x="806351" y="7046565"/>
            <a:ext cx="9817299" cy="2248792"/>
            <a:chOff x="0" y="0"/>
            <a:chExt cx="13089732" cy="2998390"/>
          </a:xfrm>
        </p:grpSpPr>
        <p:sp>
          <p:nvSpPr>
            <p:cNvPr id="24" name="Freeform 24"/>
            <p:cNvSpPr/>
            <p:nvPr/>
          </p:nvSpPr>
          <p:spPr>
            <a:xfrm>
              <a:off x="0" y="0"/>
              <a:ext cx="13089764" cy="2998343"/>
            </a:xfrm>
            <a:custGeom>
              <a:avLst/>
              <a:gdLst/>
              <a:ahLst/>
              <a:cxnLst/>
              <a:rect l="l" t="t" r="r" b="b"/>
              <a:pathLst>
                <a:path w="13089764" h="2998343">
                  <a:moveTo>
                    <a:pt x="0" y="46101"/>
                  </a:moveTo>
                  <a:cubicBezTo>
                    <a:pt x="0" y="20574"/>
                    <a:pt x="20574" y="0"/>
                    <a:pt x="46101" y="0"/>
                  </a:cubicBezTo>
                  <a:lnTo>
                    <a:pt x="13043663" y="0"/>
                  </a:lnTo>
                  <a:cubicBezTo>
                    <a:pt x="13069063" y="0"/>
                    <a:pt x="13089764" y="20574"/>
                    <a:pt x="13089764" y="46101"/>
                  </a:cubicBezTo>
                  <a:lnTo>
                    <a:pt x="13089764" y="2952242"/>
                  </a:lnTo>
                  <a:cubicBezTo>
                    <a:pt x="13089764" y="2977642"/>
                    <a:pt x="13069190" y="2998343"/>
                    <a:pt x="13043663" y="2998343"/>
                  </a:cubicBezTo>
                  <a:lnTo>
                    <a:pt x="46101" y="2998343"/>
                  </a:lnTo>
                  <a:cubicBezTo>
                    <a:pt x="20701" y="2998343"/>
                    <a:pt x="0" y="2977769"/>
                    <a:pt x="0" y="2952242"/>
                  </a:cubicBezTo>
                  <a:close/>
                </a:path>
              </a:pathLst>
            </a:custGeom>
            <a:solidFill>
              <a:srgbClr val="4C5052"/>
            </a:solidFill>
          </p:spPr>
        </p:sp>
      </p:grpSp>
      <p:grpSp>
        <p:nvGrpSpPr>
          <p:cNvPr id="25" name="Group 25"/>
          <p:cNvGrpSpPr/>
          <p:nvPr/>
        </p:nvGrpSpPr>
        <p:grpSpPr>
          <a:xfrm>
            <a:off x="1036736" y="7276951"/>
            <a:ext cx="691157" cy="691158"/>
            <a:chOff x="0" y="0"/>
            <a:chExt cx="921543" cy="921543"/>
          </a:xfrm>
        </p:grpSpPr>
        <p:sp>
          <p:nvSpPr>
            <p:cNvPr id="26" name="Freeform 26"/>
            <p:cNvSpPr/>
            <p:nvPr/>
          </p:nvSpPr>
          <p:spPr>
            <a:xfrm>
              <a:off x="0" y="0"/>
              <a:ext cx="921512" cy="921512"/>
            </a:xfrm>
            <a:custGeom>
              <a:avLst/>
              <a:gdLst/>
              <a:ahLst/>
              <a:cxnLst/>
              <a:rect l="l" t="t" r="r" b="b"/>
              <a:pathLst>
                <a:path w="921512" h="921512">
                  <a:moveTo>
                    <a:pt x="0" y="460756"/>
                  </a:moveTo>
                  <a:cubicBezTo>
                    <a:pt x="0" y="206248"/>
                    <a:pt x="206248" y="0"/>
                    <a:pt x="460756" y="0"/>
                  </a:cubicBezTo>
                  <a:cubicBezTo>
                    <a:pt x="715264" y="0"/>
                    <a:pt x="921512" y="206248"/>
                    <a:pt x="921512" y="460756"/>
                  </a:cubicBezTo>
                  <a:cubicBezTo>
                    <a:pt x="921512" y="715264"/>
                    <a:pt x="715264" y="921512"/>
                    <a:pt x="460756" y="921512"/>
                  </a:cubicBezTo>
                  <a:cubicBezTo>
                    <a:pt x="206248" y="921512"/>
                    <a:pt x="0" y="715264"/>
                    <a:pt x="0" y="460756"/>
                  </a:cubicBezTo>
                  <a:close/>
                </a:path>
              </a:pathLst>
            </a:custGeom>
            <a:solidFill>
              <a:srgbClr val="AC9EF5"/>
            </a:solidFill>
          </p:spPr>
        </p:sp>
      </p:grpSp>
      <p:grpSp>
        <p:nvGrpSpPr>
          <p:cNvPr id="27" name="Group 27"/>
          <p:cNvGrpSpPr>
            <a:grpSpLocks noChangeAspect="1"/>
          </p:cNvGrpSpPr>
          <p:nvPr/>
        </p:nvGrpSpPr>
        <p:grpSpPr>
          <a:xfrm>
            <a:off x="1226790" y="7428160"/>
            <a:ext cx="310903" cy="388739"/>
            <a:chOff x="0" y="0"/>
            <a:chExt cx="414537" cy="518318"/>
          </a:xfrm>
        </p:grpSpPr>
        <p:sp>
          <p:nvSpPr>
            <p:cNvPr id="28" name="Freeform 28" descr="preencoded.png"/>
            <p:cNvSpPr/>
            <p:nvPr/>
          </p:nvSpPr>
          <p:spPr>
            <a:xfrm>
              <a:off x="0" y="0"/>
              <a:ext cx="414528" cy="518287"/>
            </a:xfrm>
            <a:custGeom>
              <a:avLst/>
              <a:gdLst/>
              <a:ahLst/>
              <a:cxnLst/>
              <a:rect l="l" t="t" r="r" b="b"/>
              <a:pathLst>
                <a:path w="414528" h="518287">
                  <a:moveTo>
                    <a:pt x="0" y="0"/>
                  </a:moveTo>
                  <a:lnTo>
                    <a:pt x="414528" y="0"/>
                  </a:lnTo>
                  <a:lnTo>
                    <a:pt x="414528" y="518287"/>
                  </a:lnTo>
                  <a:lnTo>
                    <a:pt x="0" y="518287"/>
                  </a:lnTo>
                  <a:lnTo>
                    <a:pt x="0" y="0"/>
                  </a:lnTo>
                  <a:close/>
                </a:path>
              </a:pathLst>
            </a:custGeom>
            <a:blipFill>
              <a:blip r:embed="rId7"/>
              <a:stretch>
                <a:fillRect l="-319" r="-321" b="-6"/>
              </a:stretch>
            </a:blipFill>
          </p:spPr>
        </p:sp>
      </p:grpSp>
      <p:sp>
        <p:nvSpPr>
          <p:cNvPr id="29" name="TextBox 29"/>
          <p:cNvSpPr txBox="1"/>
          <p:nvPr/>
        </p:nvSpPr>
        <p:spPr>
          <a:xfrm>
            <a:off x="1036736" y="8179445"/>
            <a:ext cx="2879824" cy="378916"/>
          </a:xfrm>
          <a:prstGeom prst="rect">
            <a:avLst/>
          </a:prstGeom>
        </p:spPr>
        <p:txBody>
          <a:bodyPr lIns="0" tIns="0" rIns="0" bIns="0" rtlCol="0" anchor="t">
            <a:spAutoFit/>
          </a:bodyPr>
          <a:lstStyle/>
          <a:p>
            <a:pPr algn="l">
              <a:lnSpc>
                <a:spcPts val="2812"/>
              </a:lnSpc>
            </a:pPr>
            <a:r>
              <a:rPr lang="en-US" sz="2249">
                <a:solidFill>
                  <a:srgbClr val="D6D9D7"/>
                </a:solidFill>
                <a:latin typeface="DM Sans"/>
                <a:ea typeface="DM Sans"/>
                <a:cs typeface="DM Sans"/>
                <a:sym typeface="DM Sans"/>
              </a:rPr>
              <a:t>Public Awareness</a:t>
            </a:r>
          </a:p>
        </p:txBody>
      </p:sp>
      <p:sp>
        <p:nvSpPr>
          <p:cNvPr id="30" name="TextBox 30"/>
          <p:cNvSpPr txBox="1"/>
          <p:nvPr/>
        </p:nvSpPr>
        <p:spPr>
          <a:xfrm>
            <a:off x="1036736" y="8629799"/>
            <a:ext cx="9356526" cy="435174"/>
          </a:xfrm>
          <a:prstGeom prst="rect">
            <a:avLst/>
          </a:prstGeom>
        </p:spPr>
        <p:txBody>
          <a:bodyPr lIns="0" tIns="0" rIns="0" bIns="0" rtlCol="0" anchor="t">
            <a:spAutoFit/>
          </a:bodyPr>
          <a:lstStyle/>
          <a:p>
            <a:pPr algn="l">
              <a:lnSpc>
                <a:spcPts val="2875"/>
              </a:lnSpc>
            </a:pPr>
            <a:r>
              <a:rPr lang="en-US" sz="1812">
                <a:solidFill>
                  <a:srgbClr val="D6D9D7"/>
                </a:solidFill>
                <a:latin typeface="Inter"/>
                <a:ea typeface="Inter"/>
                <a:cs typeface="Inter"/>
                <a:sym typeface="Inter"/>
              </a:rPr>
              <a:t>Transformed climate change from niche concern to mainstream priority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11213"/>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D3133"/>
            </a:solidFill>
          </p:spPr>
        </p:sp>
      </p:grpSp>
      <p:grpSp>
        <p:nvGrpSpPr>
          <p:cNvPr id="6" name="Group 6"/>
          <p:cNvGrpSpPr>
            <a:grpSpLocks noChangeAspect="1"/>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3"/>
              <a:stretch>
                <a:fillRect/>
              </a:stretch>
            </a:blipFill>
          </p:spPr>
        </p:sp>
      </p:grpSp>
      <p:sp>
        <p:nvSpPr>
          <p:cNvPr id="8" name="TextBox 8"/>
          <p:cNvSpPr txBox="1"/>
          <p:nvPr/>
        </p:nvSpPr>
        <p:spPr>
          <a:xfrm>
            <a:off x="7649616" y="1097905"/>
            <a:ext cx="8255942" cy="725984"/>
          </a:xfrm>
          <a:prstGeom prst="rect">
            <a:avLst/>
          </a:prstGeom>
        </p:spPr>
        <p:txBody>
          <a:bodyPr lIns="0" tIns="0" rIns="0" bIns="0" rtlCol="0" anchor="t">
            <a:spAutoFit/>
          </a:bodyPr>
          <a:lstStyle/>
          <a:p>
            <a:pPr algn="l">
              <a:lnSpc>
                <a:spcPts val="5562"/>
              </a:lnSpc>
            </a:pPr>
            <a:r>
              <a:rPr lang="en-US" sz="4437">
                <a:solidFill>
                  <a:srgbClr val="F7F7F8"/>
                </a:solidFill>
                <a:latin typeface="DM Sans"/>
                <a:ea typeface="DM Sans"/>
                <a:cs typeface="DM Sans"/>
                <a:sym typeface="DM Sans"/>
              </a:rPr>
              <a:t>A Blueprint for Planetary Peace</a:t>
            </a:r>
          </a:p>
        </p:txBody>
      </p:sp>
      <p:sp>
        <p:nvSpPr>
          <p:cNvPr id="9" name="TextBox 9"/>
          <p:cNvSpPr txBox="1"/>
          <p:nvPr/>
        </p:nvSpPr>
        <p:spPr>
          <a:xfrm>
            <a:off x="7649616" y="2115443"/>
            <a:ext cx="9846766" cy="4289226"/>
          </a:xfrm>
          <a:prstGeom prst="rect">
            <a:avLst/>
          </a:prstGeom>
        </p:spPr>
        <p:txBody>
          <a:bodyPr lIns="0" tIns="0" rIns="0" bIns="0" rtlCol="0" anchor="t">
            <a:spAutoFit/>
          </a:bodyPr>
          <a:lstStyle/>
          <a:p>
            <a:pPr algn="l">
              <a:lnSpc>
                <a:spcPts val="11124"/>
              </a:lnSpc>
            </a:pPr>
            <a:r>
              <a:rPr lang="en-US" sz="8875">
                <a:solidFill>
                  <a:srgbClr val="F7F7F8"/>
                </a:solidFill>
                <a:latin typeface="DM Sans"/>
                <a:ea typeface="DM Sans"/>
                <a:cs typeface="DM Sans"/>
                <a:sym typeface="DM Sans"/>
              </a:rPr>
              <a:t>Saving Our Planet = Securing Our Peace</a:t>
            </a:r>
          </a:p>
        </p:txBody>
      </p:sp>
      <p:sp>
        <p:nvSpPr>
          <p:cNvPr id="10" name="TextBox 10"/>
          <p:cNvSpPr txBox="1"/>
          <p:nvPr/>
        </p:nvSpPr>
        <p:spPr>
          <a:xfrm>
            <a:off x="7649616" y="6667649"/>
            <a:ext cx="9846766" cy="1524000"/>
          </a:xfrm>
          <a:prstGeom prst="rect">
            <a:avLst/>
          </a:prstGeom>
        </p:spPr>
        <p:txBody>
          <a:bodyPr lIns="0" tIns="0" rIns="0" bIns="0" rtlCol="0" anchor="t">
            <a:spAutoFit/>
          </a:bodyPr>
          <a:lstStyle/>
          <a:p>
            <a:pPr algn="l">
              <a:lnSpc>
                <a:spcPts val="2812"/>
              </a:lnSpc>
            </a:pPr>
            <a:r>
              <a:rPr lang="en-US" sz="1750">
                <a:solidFill>
                  <a:srgbClr val="D6D9D7"/>
                </a:solidFill>
                <a:latin typeface="Inter"/>
                <a:ea typeface="Inter"/>
                <a:cs typeface="Inter"/>
                <a:sym typeface="Inter"/>
              </a:rPr>
              <a:t>The 2007 Nobel Peace Prize established that environmental protection and global peace are inseparable. By demonstrating how climate science and passionate advocacy can unite the world, the IPCC and Al Gore proved that humanity's greatest challenges require our greatest cooperation.</a:t>
            </a:r>
          </a:p>
        </p:txBody>
      </p:sp>
      <p:sp>
        <p:nvSpPr>
          <p:cNvPr id="11" name="TextBox 11"/>
          <p:cNvSpPr txBox="1"/>
          <p:nvPr/>
        </p:nvSpPr>
        <p:spPr>
          <a:xfrm>
            <a:off x="7649616" y="8369796"/>
            <a:ext cx="9846766" cy="800100"/>
          </a:xfrm>
          <a:prstGeom prst="rect">
            <a:avLst/>
          </a:prstGeom>
        </p:spPr>
        <p:txBody>
          <a:bodyPr lIns="0" tIns="0" rIns="0" bIns="0" rtlCol="0" anchor="t">
            <a:spAutoFit/>
          </a:bodyPr>
          <a:lstStyle/>
          <a:p>
            <a:pPr algn="l">
              <a:lnSpc>
                <a:spcPts val="2812"/>
              </a:lnSpc>
            </a:pPr>
            <a:r>
              <a:rPr lang="en-US" sz="1750">
                <a:solidFill>
                  <a:srgbClr val="D6D9D7"/>
                </a:solidFill>
                <a:latin typeface="Inter"/>
                <a:ea typeface="Inter"/>
                <a:cs typeface="Inter"/>
                <a:sym typeface="Inter"/>
              </a:rPr>
              <a:t>Their legacy reminds us that the path to lasting peace runs through the stewardship of our shared home.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11213"/>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D3133"/>
            </a:solidFill>
          </p:spPr>
        </p:sp>
      </p:grpSp>
      <p:sp>
        <p:nvSpPr>
          <p:cNvPr id="6" name="TextBox 6"/>
          <p:cNvSpPr txBox="1"/>
          <p:nvPr/>
        </p:nvSpPr>
        <p:spPr>
          <a:xfrm>
            <a:off x="758441" y="555047"/>
            <a:ext cx="16303526" cy="2526717"/>
          </a:xfrm>
          <a:prstGeom prst="rect">
            <a:avLst/>
          </a:prstGeom>
        </p:spPr>
        <p:txBody>
          <a:bodyPr lIns="0" tIns="0" rIns="0" bIns="0" rtlCol="0" anchor="t">
            <a:spAutoFit/>
          </a:bodyPr>
          <a:lstStyle/>
          <a:p>
            <a:pPr algn="ctr">
              <a:lnSpc>
                <a:spcPts val="20875"/>
              </a:lnSpc>
            </a:pPr>
            <a:r>
              <a:rPr lang="en-US" sz="16687" dirty="0">
                <a:solidFill>
                  <a:srgbClr val="F4B183"/>
                </a:solidFill>
                <a:latin typeface="Algerian" panose="04020705040A02060702" pitchFamily="82" charset="0"/>
                <a:ea typeface="Arimo"/>
                <a:cs typeface="Arimo"/>
                <a:sym typeface="Arimo"/>
              </a:rPr>
              <a:t>Thank You</a:t>
            </a:r>
          </a:p>
        </p:txBody>
      </p:sp>
      <p:sp>
        <p:nvSpPr>
          <p:cNvPr id="7" name="TextBox 7"/>
          <p:cNvSpPr txBox="1"/>
          <p:nvPr/>
        </p:nvSpPr>
        <p:spPr>
          <a:xfrm>
            <a:off x="11729259" y="3673881"/>
            <a:ext cx="5532120" cy="5663645"/>
          </a:xfrm>
          <a:prstGeom prst="rect">
            <a:avLst/>
          </a:prstGeom>
        </p:spPr>
        <p:txBody>
          <a:bodyPr lIns="0" tIns="0" rIns="0" bIns="0" rtlCol="0" anchor="t">
            <a:spAutoFit/>
          </a:bodyPr>
          <a:lstStyle/>
          <a:p>
            <a:pPr marL="452437" lvl="1" indent="-226219" algn="l">
              <a:lnSpc>
                <a:spcPts val="5400"/>
              </a:lnSpc>
              <a:buFont typeface="Arial"/>
              <a:buChar char="•"/>
            </a:pPr>
            <a:r>
              <a:rPr lang="en-US" sz="3000" dirty="0">
                <a:solidFill>
                  <a:srgbClr val="F4B183"/>
                </a:solidFill>
                <a:latin typeface="Agency FB" panose="020B0503020202020204" pitchFamily="34" charset="0"/>
                <a:ea typeface="Arimo"/>
                <a:cs typeface="Arimo"/>
                <a:sym typeface="Arimo"/>
              </a:rPr>
              <a:t>Dinesh N  - 2024503057</a:t>
            </a:r>
          </a:p>
          <a:p>
            <a:pPr marL="452437" lvl="1" indent="-226219" algn="l">
              <a:lnSpc>
                <a:spcPts val="5400"/>
              </a:lnSpc>
              <a:buFont typeface="Arial"/>
              <a:buChar char="•"/>
            </a:pPr>
            <a:r>
              <a:rPr lang="en-US" sz="3000" dirty="0">
                <a:solidFill>
                  <a:srgbClr val="F4B183"/>
                </a:solidFill>
                <a:latin typeface="Agency FB" panose="020B0503020202020204" pitchFamily="34" charset="0"/>
                <a:ea typeface="Arimo"/>
                <a:cs typeface="Arimo"/>
                <a:sym typeface="Arimo"/>
              </a:rPr>
              <a:t>Bharathi Shankar R - 2024503063</a:t>
            </a:r>
          </a:p>
          <a:p>
            <a:pPr marL="452437" lvl="1" indent="-226219" algn="l">
              <a:lnSpc>
                <a:spcPts val="5400"/>
              </a:lnSpc>
              <a:buFont typeface="Arial"/>
              <a:buChar char="•"/>
            </a:pPr>
            <a:r>
              <a:rPr lang="en-US" sz="3000" dirty="0" err="1">
                <a:solidFill>
                  <a:srgbClr val="F4B183"/>
                </a:solidFill>
                <a:latin typeface="Agency FB" panose="020B0503020202020204" pitchFamily="34" charset="0"/>
                <a:ea typeface="Arimo"/>
                <a:cs typeface="Arimo"/>
                <a:sym typeface="Arimo"/>
              </a:rPr>
              <a:t>Medhar</a:t>
            </a:r>
            <a:r>
              <a:rPr lang="en-US" sz="3000" dirty="0">
                <a:solidFill>
                  <a:srgbClr val="F4B183"/>
                </a:solidFill>
                <a:latin typeface="Agency FB" panose="020B0503020202020204" pitchFamily="34" charset="0"/>
                <a:ea typeface="Arimo"/>
                <a:cs typeface="Arimo"/>
                <a:sym typeface="Arimo"/>
              </a:rPr>
              <a:t> Navas S - 2024503303</a:t>
            </a:r>
          </a:p>
          <a:p>
            <a:pPr marL="452437" lvl="1" indent="-226219" algn="l">
              <a:lnSpc>
                <a:spcPts val="5400"/>
              </a:lnSpc>
              <a:buFont typeface="Arial"/>
              <a:buChar char="•"/>
            </a:pPr>
            <a:r>
              <a:rPr lang="en-US" sz="3000" dirty="0">
                <a:solidFill>
                  <a:srgbClr val="F4B183"/>
                </a:solidFill>
                <a:latin typeface="Agency FB" panose="020B0503020202020204" pitchFamily="34" charset="0"/>
                <a:ea typeface="Arimo"/>
                <a:cs typeface="Arimo"/>
                <a:sym typeface="Arimo"/>
              </a:rPr>
              <a:t>Nishanth S - 2024503508</a:t>
            </a:r>
          </a:p>
          <a:p>
            <a:pPr marL="452437" lvl="1" indent="-226219" algn="l">
              <a:lnSpc>
                <a:spcPts val="5400"/>
              </a:lnSpc>
              <a:buFont typeface="Arial"/>
              <a:buChar char="•"/>
            </a:pPr>
            <a:r>
              <a:rPr lang="en-US" sz="3000" dirty="0">
                <a:solidFill>
                  <a:srgbClr val="F4B183"/>
                </a:solidFill>
                <a:latin typeface="Agency FB" panose="020B0503020202020204" pitchFamily="34" charset="0"/>
                <a:ea typeface="Arimo"/>
                <a:cs typeface="Arimo"/>
                <a:sym typeface="Arimo"/>
              </a:rPr>
              <a:t>Sameer </a:t>
            </a:r>
            <a:r>
              <a:rPr lang="en-US" sz="3000">
                <a:solidFill>
                  <a:srgbClr val="F4B183"/>
                </a:solidFill>
                <a:latin typeface="Agency FB" panose="020B0503020202020204" pitchFamily="34" charset="0"/>
                <a:ea typeface="Arimo"/>
                <a:cs typeface="Arimo"/>
                <a:sym typeface="Arimo"/>
              </a:rPr>
              <a:t>Ahamed  T- </a:t>
            </a:r>
            <a:r>
              <a:rPr lang="en-US" sz="3000" dirty="0">
                <a:solidFill>
                  <a:srgbClr val="F4B183"/>
                </a:solidFill>
                <a:latin typeface="Agency FB" panose="020B0503020202020204" pitchFamily="34" charset="0"/>
                <a:ea typeface="Arimo"/>
                <a:cs typeface="Arimo"/>
                <a:sym typeface="Arimo"/>
              </a:rPr>
              <a:t>2024503511</a:t>
            </a:r>
          </a:p>
          <a:p>
            <a:pPr marL="452437" lvl="1" indent="-226219" algn="l">
              <a:lnSpc>
                <a:spcPts val="5400"/>
              </a:lnSpc>
              <a:buFont typeface="Arial"/>
              <a:buChar char="•"/>
            </a:pPr>
            <a:r>
              <a:rPr lang="en-US" sz="3000" dirty="0" err="1">
                <a:solidFill>
                  <a:srgbClr val="F4B183"/>
                </a:solidFill>
                <a:latin typeface="Agency FB" panose="020B0503020202020204" pitchFamily="34" charset="0"/>
                <a:ea typeface="Arimo"/>
                <a:cs typeface="Arimo"/>
                <a:sym typeface="Arimo"/>
              </a:rPr>
              <a:t>Sivasankaran</a:t>
            </a:r>
            <a:r>
              <a:rPr lang="en-US" sz="3000" dirty="0">
                <a:solidFill>
                  <a:srgbClr val="F4B183"/>
                </a:solidFill>
                <a:latin typeface="Agency FB" panose="020B0503020202020204" pitchFamily="34" charset="0"/>
                <a:ea typeface="Arimo"/>
                <a:cs typeface="Arimo"/>
                <a:sym typeface="Arimo"/>
              </a:rPr>
              <a:t> M - 2024503558</a:t>
            </a:r>
          </a:p>
          <a:p>
            <a:pPr marL="452437" lvl="1" indent="-226219" algn="l">
              <a:lnSpc>
                <a:spcPts val="5400"/>
              </a:lnSpc>
              <a:buFont typeface="Arial"/>
              <a:buChar char="•"/>
            </a:pPr>
            <a:r>
              <a:rPr lang="en-US" sz="3000" dirty="0">
                <a:solidFill>
                  <a:srgbClr val="F4B183"/>
                </a:solidFill>
                <a:latin typeface="Agency FB" panose="020B0503020202020204" pitchFamily="34" charset="0"/>
                <a:ea typeface="Arimo"/>
                <a:cs typeface="Arimo"/>
                <a:sym typeface="Arimo"/>
              </a:rPr>
              <a:t>Sivasankar C - 2024503572</a:t>
            </a:r>
          </a:p>
          <a:p>
            <a:pPr marL="452437" lvl="1" indent="-226219" algn="l">
              <a:lnSpc>
                <a:spcPts val="5400"/>
              </a:lnSpc>
              <a:buFont typeface="Arial"/>
              <a:buChar char="•"/>
            </a:pPr>
            <a:r>
              <a:rPr lang="en-US" sz="3000" dirty="0">
                <a:solidFill>
                  <a:srgbClr val="F4B183"/>
                </a:solidFill>
                <a:latin typeface="Agency FB" panose="020B0503020202020204" pitchFamily="34" charset="0"/>
                <a:ea typeface="Arimo"/>
                <a:cs typeface="Arimo"/>
                <a:sym typeface="Arimo"/>
              </a:rPr>
              <a:t>Ajay Kumar S - 2024503701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656</Words>
  <Application>Microsoft Office PowerPoint</Application>
  <PresentationFormat>Custom</PresentationFormat>
  <Paragraphs>104</Paragraphs>
  <Slides>11</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Algerian</vt:lpstr>
      <vt:lpstr>Agency FB</vt:lpstr>
      <vt:lpstr>Inter</vt:lpstr>
      <vt:lpstr>Calibri</vt:lpstr>
      <vt:lpstr>DM Sans</vt:lpstr>
      <vt:lpstr>Arial</vt:lpstr>
      <vt:lpstr>Inter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2007-Nobel-Peace-Prize.pptx</dc:title>
  <cp:lastModifiedBy>Ajay Kumar</cp:lastModifiedBy>
  <cp:revision>3</cp:revision>
  <dcterms:created xsi:type="dcterms:W3CDTF">2006-08-16T00:00:00Z</dcterms:created>
  <dcterms:modified xsi:type="dcterms:W3CDTF">2025-09-29T12:05:24Z</dcterms:modified>
  <dc:identifier>DAG0W_hscKA</dc:identifier>
</cp:coreProperties>
</file>