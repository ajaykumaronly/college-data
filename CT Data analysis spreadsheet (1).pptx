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Glacial Indifference Bold" charset="1" panose="00000800000000000000"/>
      <p:regular r:id="rId35"/>
    </p:embeddedFont>
    <p:embeddedFont>
      <p:font typeface="Futura" charset="1" panose="020B0502020204020303"/>
      <p:regular r:id="rId36"/>
    </p:embeddedFont>
    <p:embeddedFont>
      <p:font typeface="Inter Bold" charset="1" panose="020B0802030000000004"/>
      <p:regular r:id="rId37"/>
    </p:embeddedFont>
    <p:embeddedFont>
      <p:font typeface="Futura Bold" charset="1" panose="020B0702020204020203"/>
      <p:regular r:id="rId38"/>
    </p:embeddedFont>
    <p:embeddedFont>
      <p:font typeface="Futura Bold Italics" charset="1" panose="020B0702020204090203"/>
      <p:regular r:id="rId39"/>
    </p:embeddedFont>
    <p:embeddedFont>
      <p:font typeface="Glacial Indifference" charset="1" panose="00000000000000000000"/>
      <p:regular r:id="rId40"/>
    </p:embeddedFont>
    <p:embeddedFont>
      <p:font typeface="Glacial Indifference Bold Italics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5030" y="1744980"/>
            <a:ext cx="15066548" cy="370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89"/>
              </a:lnSpc>
            </a:pPr>
            <a:r>
              <a:rPr lang="en-US" b="true" sz="8499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PERFORMING DATA ANALYTICS USING SPREADSHEET SOFTWARE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9081" y="6172200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93106" y="5778178"/>
            <a:ext cx="14744962" cy="6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4"/>
              </a:lnSpc>
            </a:pPr>
            <a:r>
              <a:rPr lang="en-US" sz="347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Formulae • Functions • Logical Operations • Visualization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7871" y="8872110"/>
            <a:ext cx="5106598" cy="63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77"/>
              </a:lnSpc>
              <a:spcBef>
                <a:spcPct val="0"/>
              </a:spcBef>
            </a:pPr>
            <a:r>
              <a:rPr lang="en-US" sz="3341">
                <a:solidFill>
                  <a:srgbClr val="465739"/>
                </a:solidFill>
                <a:latin typeface="Futura"/>
                <a:ea typeface="Futura"/>
                <a:cs typeface="Futura"/>
                <a:sym typeface="Futura"/>
              </a:rPr>
              <a:t>Computational Thinking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43222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79920" y="83878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12581" y="684005"/>
            <a:ext cx="1085994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What is data analytics?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8485" y="2025960"/>
            <a:ext cx="15384761" cy="747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 Analytics is the process of examining raw data to discover useful information, patterns, and insights.</a:t>
            </a:r>
          </a:p>
          <a:p>
            <a:pPr algn="just">
              <a:lnSpc>
                <a:spcPts val="4899"/>
              </a:lnSpc>
            </a:pP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It helps in decision-making, identifying trends, and predicting future outcomes.</a:t>
            </a:r>
          </a:p>
          <a:p>
            <a:pPr algn="just">
              <a:lnSpc>
                <a:spcPts val="4899"/>
              </a:lnSpc>
            </a:pP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simple terms: turning data into knowledge.</a:t>
            </a:r>
          </a:p>
          <a:p>
            <a:pPr algn="just">
              <a:lnSpc>
                <a:spcPts val="4899"/>
              </a:lnSpc>
            </a:pP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</a:t>
            </a:r>
            <a:r>
              <a:rPr lang="en-US" b="true" sz="34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ata analyst </a:t>
            </a:r>
            <a:r>
              <a:rPr lang="en-US" sz="34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collects, cleans, interprets, and analyzes data to uncover trends and provide actionable insights that help businesses make informed decisions</a:t>
            </a:r>
          </a:p>
          <a:p>
            <a:pPr algn="just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43776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908807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712580"/>
            <a:ext cx="15716250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Why Spreadsheets are Powerful for Analytics?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037" y="1914703"/>
            <a:ext cx="16569845" cy="744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Simple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Easy to learn and use, even for beginners with no coding background.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Accessible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Available in common tools like MS Excel, Google Sheets, LibreOffice which are widely used across industries.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Flexible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Can handle numbers, text, dates, and even visualizations in one place.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Built-in Functions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Ready-made formulas (SUM, AVERAGE, VLOOKUP) simplify complex calculations.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Visualization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nst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ant charts, pivot tables, and conditional formatting for better understanding.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Scalable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 Useful for small student datasets as well as large business reports.</a:t>
            </a:r>
          </a:p>
          <a:p>
            <a:pPr algn="just">
              <a:lnSpc>
                <a:spcPts val="59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9311" y="3805196"/>
            <a:ext cx="5732787" cy="3854470"/>
            <a:chOff x="0" y="0"/>
            <a:chExt cx="888159" cy="597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8159" cy="597158"/>
            </a:xfrm>
            <a:custGeom>
              <a:avLst/>
              <a:gdLst/>
              <a:ahLst/>
              <a:cxnLst/>
              <a:rect r="r" b="b" t="t" l="l"/>
              <a:pathLst>
                <a:path h="597158" w="888159">
                  <a:moveTo>
                    <a:pt x="0" y="0"/>
                  </a:moveTo>
                  <a:lnTo>
                    <a:pt x="888159" y="0"/>
                  </a:lnTo>
                  <a:lnTo>
                    <a:pt x="888159" y="597158"/>
                  </a:lnTo>
                  <a:lnTo>
                    <a:pt x="0" y="597158"/>
                  </a:lnTo>
                  <a:close/>
                </a:path>
              </a:pathLst>
            </a:custGeom>
            <a:blipFill>
              <a:blip r:embed="rId2"/>
              <a:stretch>
                <a:fillRect l="-458" t="0" r="-45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70148" y="2401221"/>
            <a:ext cx="12560747" cy="7436655"/>
            <a:chOff x="0" y="0"/>
            <a:chExt cx="3308180" cy="195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8180" cy="1958625"/>
            </a:xfrm>
            <a:custGeom>
              <a:avLst/>
              <a:gdLst/>
              <a:ahLst/>
              <a:cxnLst/>
              <a:rect r="r" b="b" t="t" l="l"/>
              <a:pathLst>
                <a:path h="1958625" w="3308180">
                  <a:moveTo>
                    <a:pt x="0" y="0"/>
                  </a:moveTo>
                  <a:lnTo>
                    <a:pt x="3308180" y="0"/>
                  </a:lnTo>
                  <a:lnTo>
                    <a:pt x="3308180" y="1958625"/>
                  </a:lnTo>
                  <a:lnTo>
                    <a:pt x="0" y="195862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08180" cy="200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75311" y="390802"/>
            <a:ext cx="17612689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 b="true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Applications of Data Analytics with </a:t>
            </a:r>
          </a:p>
          <a:p>
            <a:pPr algn="ctr" marL="0" indent="0" lvl="0">
              <a:lnSpc>
                <a:spcPts val="6540"/>
              </a:lnSpc>
            </a:pPr>
            <a:r>
              <a:rPr lang="en-US" b="true" sz="6000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Spreadsheets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10803" y="2664514"/>
            <a:ext cx="11879436" cy="678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Education: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Track student marks, attendance, and performance trends.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Identify top performers and students needing help.</a:t>
            </a: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Business: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Sales analysis, revenue tracking, and inventory management.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Customer insights and performance dashboards.</a:t>
            </a: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Finance: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Budgeting, expense tracking, loan repayment schedules.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Investment analysis and forecasting.</a:t>
            </a: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Research: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 cleaning, organization, and summary statistics.</a:t>
            </a:r>
          </a:p>
          <a:p>
            <a:pPr algn="l" marL="690879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Visualizing experimental results and trends.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1591" y="-514350"/>
            <a:ext cx="6624981" cy="11231368"/>
            <a:chOff x="0" y="0"/>
            <a:chExt cx="1026383" cy="1740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383" cy="1740033"/>
            </a:xfrm>
            <a:custGeom>
              <a:avLst/>
              <a:gdLst/>
              <a:ahLst/>
              <a:cxnLst/>
              <a:rect r="r" b="b" t="t" l="l"/>
              <a:pathLst>
                <a:path h="1740033" w="1026383">
                  <a:moveTo>
                    <a:pt x="0" y="0"/>
                  </a:moveTo>
                  <a:lnTo>
                    <a:pt x="1026383" y="0"/>
                  </a:lnTo>
                  <a:lnTo>
                    <a:pt x="1026383" y="1740033"/>
                  </a:lnTo>
                  <a:lnTo>
                    <a:pt x="0" y="1740033"/>
                  </a:lnTo>
                  <a:close/>
                </a:path>
              </a:pathLst>
            </a:custGeom>
            <a:blipFill>
              <a:blip r:embed="rId2"/>
              <a:stretch>
                <a:fillRect l="-77227" t="0" r="-7722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95302" y="314607"/>
            <a:ext cx="12766028" cy="123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11"/>
              </a:lnSpc>
              <a:spcBef>
                <a:spcPct val="0"/>
              </a:spcBef>
            </a:pPr>
            <a:r>
              <a:rPr lang="en-US" b="true" sz="7222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Anatomy of SpreadSheet</a:t>
            </a:r>
          </a:p>
        </p:txBody>
      </p:sp>
      <p:sp>
        <p:nvSpPr>
          <p:cNvPr name="AutoShape 5" id="5"/>
          <p:cNvSpPr/>
          <p:nvPr/>
        </p:nvSpPr>
        <p:spPr>
          <a:xfrm>
            <a:off x="6773832" y="1791514"/>
            <a:ext cx="9144000" cy="0"/>
          </a:xfrm>
          <a:prstGeom prst="line">
            <a:avLst/>
          </a:prstGeom>
          <a:ln cap="flat" w="38100">
            <a:solidFill>
              <a:srgbClr val="EAEB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738598" y="1905814"/>
            <a:ext cx="11879436" cy="791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Workbook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Row &amp; Column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Tabs → Ribbon → Groups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Cells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Range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Name Box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Formula Box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Operations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Fill handle or auto fill handle (identify pattern and fill)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Edit in the cell &amp; Click on the cell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Clear group → editing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Insert, delete &amp; swap rows and column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Find / replace (Editing)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File → More options → adjust the values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43776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908807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08184" y="562293"/>
            <a:ext cx="10571908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Formulae in Spreadsheets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216" y="1610371"/>
            <a:ext cx="16569845" cy="818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Formulae are user-defined expressions that perform calculations using cell values.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Always start with an equal sign (=).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Examples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=A1 + B1 → Adds values in A1 and B1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=A1 * 10% → Calculates 10% of the value in A1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Cell Referencing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Relative Reference (A1): Changes when copied to another cell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Absolute Reference ($A$1): Fixed cell reference, does not change when copied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Demo Idea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Enter marks of 5 students</a:t>
            </a:r>
          </a:p>
          <a:p>
            <a:pPr algn="just" marL="2936231" indent="-587246" lvl="4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Total marks (e.g., =B2+C2) </a:t>
            </a:r>
          </a:p>
          <a:p>
            <a:pPr algn="just" marL="2936231" indent="-587246" lvl="4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Bonus marks (e.g., =C2*5%)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267" y="838688"/>
            <a:ext cx="17198225" cy="8962806"/>
          </a:xfrm>
          <a:custGeom>
            <a:avLst/>
            <a:gdLst/>
            <a:ahLst/>
            <a:cxnLst/>
            <a:rect r="r" b="b" t="t" l="l"/>
            <a:pathLst>
              <a:path h="8962806" w="17198225">
                <a:moveTo>
                  <a:pt x="0" y="0"/>
                </a:moveTo>
                <a:lnTo>
                  <a:pt x="17198225" y="0"/>
                </a:lnTo>
                <a:lnTo>
                  <a:pt x="17198225" y="8962806"/>
                </a:lnTo>
                <a:lnTo>
                  <a:pt x="0" y="896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84" t="-8212" r="-1088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43776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908807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08184" y="562293"/>
            <a:ext cx="10571908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Functions in Spreadsheets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216" y="1610371"/>
            <a:ext cx="16569845" cy="818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Functions are predefined formulas that perform specific calculations or operations.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They simplify complex tasks into single-step solutions.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Types of Functions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Mathematical: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=SUM(A1:A10) → Adds numbers in a range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ROUND(B2,2) → Rounds valu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 to 2 decimal places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Statistical: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=AVERAGE(B2:B11) → Finds class average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=MAX(B2:B11) → Highest mark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=MIN(B2:B11) → Lowest mark</a:t>
            </a:r>
          </a:p>
          <a:p>
            <a:pPr algn="just" marL="2202174" indent="-550543" lvl="3">
              <a:lnSpc>
                <a:spcPts val="5915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=COUNT(D2:D7) → Total count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43776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908807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08184" y="562293"/>
            <a:ext cx="10571908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Functions in Spreadsheets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216" y="1389304"/>
            <a:ext cx="16569845" cy="818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Text: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=LEN(A2) → Co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unts characters in a name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=UPPER(A2) → Converts to uppercase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=LEFT(A2,3) → Extracts first 3 characters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Looku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 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&amp;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Refere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nc</a:t>
            </a: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e: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=VLOOKUP(ID,Table,2,FALSE) → Finds student’s mark by ID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=I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NDEX(A1:C10,2,3) → Returns valu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 from 2nd row, 3rd co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umn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=MATCH(50,B2:B11,0) → Finds position of value 50 in range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Demo Idea - 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Enter student marks in a column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 =AVERAGE(B2:B11) to calculate the class average</a:t>
            </a:r>
          </a:p>
          <a:p>
            <a:pPr algn="just" marL="1468116" indent="-489372" lvl="2">
              <a:lnSpc>
                <a:spcPts val="5915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Highlight highest (MAX) and lowest (MIN) scores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3180" y="740580"/>
            <a:ext cx="16736182" cy="8946262"/>
          </a:xfrm>
          <a:custGeom>
            <a:avLst/>
            <a:gdLst/>
            <a:ahLst/>
            <a:cxnLst/>
            <a:rect r="r" b="b" t="t" l="l"/>
            <a:pathLst>
              <a:path h="8946262" w="16736182">
                <a:moveTo>
                  <a:pt x="0" y="0"/>
                </a:moveTo>
                <a:lnTo>
                  <a:pt x="16736182" y="0"/>
                </a:lnTo>
                <a:lnTo>
                  <a:pt x="16736182" y="8946262"/>
                </a:lnTo>
                <a:lnTo>
                  <a:pt x="0" y="8946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0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62381" y="6035651"/>
            <a:ext cx="3778134" cy="4090500"/>
          </a:xfrm>
          <a:custGeom>
            <a:avLst/>
            <a:gdLst/>
            <a:ahLst/>
            <a:cxnLst/>
            <a:rect r="r" b="b" t="t" l="l"/>
            <a:pathLst>
              <a:path h="4090500" w="3778134">
                <a:moveTo>
                  <a:pt x="0" y="0"/>
                </a:moveTo>
                <a:lnTo>
                  <a:pt x="3778134" y="0"/>
                </a:lnTo>
                <a:lnTo>
                  <a:pt x="3778134" y="4090500"/>
                </a:lnTo>
                <a:lnTo>
                  <a:pt x="0" y="40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60483"/>
            <a:ext cx="2143420" cy="12006119"/>
            <a:chOff x="0" y="0"/>
            <a:chExt cx="564522" cy="3162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4522" cy="3162105"/>
            </a:xfrm>
            <a:custGeom>
              <a:avLst/>
              <a:gdLst/>
              <a:ahLst/>
              <a:cxnLst/>
              <a:rect r="r" b="b" t="t" l="l"/>
              <a:pathLst>
                <a:path h="3162105" w="564522">
                  <a:moveTo>
                    <a:pt x="0" y="0"/>
                  </a:moveTo>
                  <a:lnTo>
                    <a:pt x="564522" y="0"/>
                  </a:lnTo>
                  <a:lnTo>
                    <a:pt x="564522" y="3162105"/>
                  </a:lnTo>
                  <a:lnTo>
                    <a:pt x="0" y="316210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4522" cy="3209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3337054" y="4533864"/>
            <a:ext cx="8588633" cy="121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71"/>
              </a:lnSpc>
              <a:spcBef>
                <a:spcPct val="0"/>
              </a:spcBef>
            </a:pPr>
            <a:r>
              <a:rPr lang="en-US" b="true" sz="7122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Formatting 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3420" y="280606"/>
            <a:ext cx="15789224" cy="959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4463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Formatting is the process of changing the appearance of data to make it clear, readable &amp; visually appealing.</a:t>
            </a:r>
          </a:p>
          <a:p>
            <a:pPr algn="just" marL="669289" indent="-334645" lvl="1">
              <a:lnSpc>
                <a:spcPts val="4463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It does not change the actual values, only how they are displayed.</a:t>
            </a:r>
          </a:p>
          <a:p>
            <a:pPr algn="just" marL="669289" indent="-334645" lvl="1">
              <a:lnSpc>
                <a:spcPts val="4463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Types of Formatting</a:t>
            </a:r>
          </a:p>
          <a:p>
            <a:pPr algn="just" marL="1338579" indent="-446193" lvl="2">
              <a:lnSpc>
                <a:spcPts val="4463"/>
              </a:lnSpc>
              <a:buFont typeface="Arial"/>
              <a:buChar char="⚬"/>
            </a:pPr>
            <a:r>
              <a:rPr lang="en-US" b="true" sz="3099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Text Formatting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Font type, size, bold, italics, underline &amp; Alignment: left, right, center</a:t>
            </a:r>
          </a:p>
          <a:p>
            <a:pPr algn="just" marL="1338579" indent="-446193" lvl="2">
              <a:lnSpc>
                <a:spcPts val="4463"/>
              </a:lnSpc>
              <a:buFont typeface="Arial"/>
              <a:buChar char="⚬"/>
            </a:pPr>
            <a:r>
              <a:rPr lang="en-US" b="true" sz="3099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Number Formatting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Display as currency, percentage, decimal, date, or time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Example: 75 → 75% or 5000 → ₹5,000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Home tab → number group → select currency/number option</a:t>
            </a:r>
          </a:p>
          <a:p>
            <a:pPr algn="just" marL="1338579" indent="-446193" lvl="2">
              <a:lnSpc>
                <a:spcPts val="4463"/>
              </a:lnSpc>
              <a:buFont typeface="Arial"/>
              <a:buChar char="⚬"/>
            </a:pPr>
            <a:r>
              <a:rPr lang="en-US" b="true" sz="3099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Cell Formatting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Borders and shading (background color)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Merging cells for titles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Adjusting column width and row height</a:t>
            </a:r>
          </a:p>
          <a:p>
            <a:pPr algn="just" marL="1338579" indent="-446193" lvl="2">
              <a:lnSpc>
                <a:spcPts val="4463"/>
              </a:lnSpc>
              <a:buFont typeface="Arial"/>
              <a:buChar char="⚬"/>
            </a:pPr>
            <a:r>
              <a:rPr lang="en-US" b="true" sz="3099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Conditional Formatting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Automatically highlight cells based on rules</a:t>
            </a:r>
          </a:p>
          <a:p>
            <a:pPr algn="just" marL="2007868" indent="-501967" lvl="3">
              <a:lnSpc>
                <a:spcPts val="4463"/>
              </a:lnSpc>
              <a:buFont typeface="Arial"/>
              <a:buChar char="￭"/>
            </a:pPr>
            <a:r>
              <a:rPr lang="en-US" sz="30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Example: marks below 40 → red fill, above 80 → green fill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787" y="911567"/>
            <a:ext cx="16685453" cy="8477597"/>
          </a:xfrm>
          <a:custGeom>
            <a:avLst/>
            <a:gdLst/>
            <a:ahLst/>
            <a:cxnLst/>
            <a:rect r="r" b="b" t="t" l="l"/>
            <a:pathLst>
              <a:path h="8477597" w="16685453">
                <a:moveTo>
                  <a:pt x="0" y="0"/>
                </a:moveTo>
                <a:lnTo>
                  <a:pt x="16685453" y="0"/>
                </a:lnTo>
                <a:lnTo>
                  <a:pt x="16685453" y="8477598"/>
                </a:lnTo>
                <a:lnTo>
                  <a:pt x="0" y="84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3383" y="1542593"/>
            <a:ext cx="7661412" cy="5499197"/>
          </a:xfrm>
          <a:custGeom>
            <a:avLst/>
            <a:gdLst/>
            <a:ahLst/>
            <a:cxnLst/>
            <a:rect r="r" b="b" t="t" l="l"/>
            <a:pathLst>
              <a:path h="5499197" w="7661412">
                <a:moveTo>
                  <a:pt x="0" y="0"/>
                </a:moveTo>
                <a:lnTo>
                  <a:pt x="7661412" y="0"/>
                </a:lnTo>
                <a:lnTo>
                  <a:pt x="7661412" y="5499197"/>
                </a:lnTo>
                <a:lnTo>
                  <a:pt x="0" y="5499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34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657" y="514807"/>
            <a:ext cx="13561366" cy="102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68"/>
              </a:lnSpc>
            </a:pPr>
            <a:r>
              <a:rPr lang="en-US" b="true" sz="6780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Visualization in Spreadsheets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5891" y="2116893"/>
            <a:ext cx="16534755" cy="772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2"/>
              </a:lnSpc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Why Visualization is Important?</a:t>
            </a:r>
          </a:p>
          <a:p>
            <a:pPr algn="just" marL="690881" indent="-345440" lvl="1">
              <a:lnSpc>
                <a:spcPts val="515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see patterns and trends hidden in raw numbers.</a:t>
            </a:r>
          </a:p>
          <a:p>
            <a:pPr algn="just" marL="690881" indent="-345440" lvl="1">
              <a:lnSpc>
                <a:spcPts val="515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Makes complex data easy to understand at glance.</a:t>
            </a:r>
          </a:p>
          <a:p>
            <a:pPr algn="just" marL="690881" indent="-345440" lvl="1">
              <a:lnSpc>
                <a:spcPts val="515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Supports better decision-making with visual insights.</a:t>
            </a:r>
          </a:p>
          <a:p>
            <a:pPr algn="just" marL="690881" indent="-345440" lvl="1">
              <a:lnSpc>
                <a:spcPts val="5152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</a:t>
            </a: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presentations and reports where clarity matters.</a:t>
            </a:r>
          </a:p>
          <a:p>
            <a:pPr algn="just">
              <a:lnSpc>
                <a:spcPts val="5152"/>
              </a:lnSpc>
            </a:pPr>
          </a:p>
          <a:p>
            <a:pPr algn="just">
              <a:lnSpc>
                <a:spcPts val="5152"/>
              </a:lnSpc>
            </a:pPr>
            <a:r>
              <a:rPr lang="en-US" sz="3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Tools in Spreadsheets</a:t>
            </a:r>
          </a:p>
          <a:p>
            <a:pPr algn="just" marL="690881" indent="-345440" lvl="1">
              <a:lnSpc>
                <a:spcPts val="5152"/>
              </a:lnSpc>
              <a:buFont typeface="Arial"/>
              <a:buChar char="•"/>
            </a:pPr>
            <a:r>
              <a:rPr lang="en-US" b="true" sz="3200" i="true">
                <a:solidFill>
                  <a:srgbClr val="000000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Charts</a:t>
            </a:r>
          </a:p>
          <a:p>
            <a:pPr algn="just" marL="1381761" indent="-460587" lvl="2">
              <a:lnSpc>
                <a:spcPts val="515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Bar/Column Chart → Compare marks or sales</a:t>
            </a:r>
          </a:p>
          <a:p>
            <a:pPr algn="just" marL="1381761" indent="-460587" lvl="2">
              <a:lnSpc>
                <a:spcPts val="515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Line Chart → Show trends over time (e.g., monthly growth)</a:t>
            </a:r>
          </a:p>
          <a:p>
            <a:pPr algn="just" marL="1381761" indent="-460587" lvl="2">
              <a:lnSpc>
                <a:spcPts val="515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Pie Chart → Show percentage contribution (e.g., subject-wise performance)</a:t>
            </a:r>
          </a:p>
          <a:p>
            <a:pPr algn="just" marL="1381761" indent="-460587" lvl="2">
              <a:lnSpc>
                <a:spcPts val="515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Scatter Plot → Show relationships between two variables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923" y="559923"/>
            <a:ext cx="17374153" cy="9167154"/>
          </a:xfrm>
          <a:custGeom>
            <a:avLst/>
            <a:gdLst/>
            <a:ahLst/>
            <a:cxnLst/>
            <a:rect r="r" b="b" t="t" l="l"/>
            <a:pathLst>
              <a:path h="9167154" w="17374153">
                <a:moveTo>
                  <a:pt x="0" y="0"/>
                </a:moveTo>
                <a:lnTo>
                  <a:pt x="17374154" y="0"/>
                </a:lnTo>
                <a:lnTo>
                  <a:pt x="17374154" y="9167154"/>
                </a:lnTo>
                <a:lnTo>
                  <a:pt x="0" y="916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11" t="-7079" r="-11302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165" y="2072982"/>
            <a:ext cx="4477296" cy="1094030"/>
            <a:chOff x="0" y="0"/>
            <a:chExt cx="1179205" cy="288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9205" cy="288140"/>
            </a:xfrm>
            <a:custGeom>
              <a:avLst/>
              <a:gdLst/>
              <a:ahLst/>
              <a:cxnLst/>
              <a:rect r="r" b="b" t="t" l="l"/>
              <a:pathLst>
                <a:path h="288140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288140"/>
                  </a:lnTo>
                  <a:lnTo>
                    <a:pt x="0" y="288140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179205" cy="364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2"/>
                </a:lnSpc>
              </a:pPr>
              <a:r>
                <a:rPr lang="en-US" b="true" sz="31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C</a:t>
              </a:r>
              <a:r>
                <a:rPr lang="en-US" b="true" sz="31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harts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7023" y="5623753"/>
            <a:ext cx="4477296" cy="1094030"/>
            <a:chOff x="0" y="0"/>
            <a:chExt cx="1179205" cy="288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205" cy="288140"/>
            </a:xfrm>
            <a:custGeom>
              <a:avLst/>
              <a:gdLst/>
              <a:ahLst/>
              <a:cxnLst/>
              <a:rect r="r" b="b" t="t" l="l"/>
              <a:pathLst>
                <a:path h="288140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288140"/>
                  </a:lnTo>
                  <a:lnTo>
                    <a:pt x="0" y="288140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179205" cy="364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2"/>
                </a:lnSpc>
              </a:pPr>
              <a:r>
                <a:rPr lang="en-US" b="true" sz="31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Pivot Tables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8093" y="7978482"/>
            <a:ext cx="4854368" cy="1094030"/>
            <a:chOff x="0" y="0"/>
            <a:chExt cx="1278517" cy="288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8517" cy="288140"/>
            </a:xfrm>
            <a:custGeom>
              <a:avLst/>
              <a:gdLst/>
              <a:ahLst/>
              <a:cxnLst/>
              <a:rect r="r" b="b" t="t" l="l"/>
              <a:pathLst>
                <a:path h="288140" w="1278517">
                  <a:moveTo>
                    <a:pt x="0" y="0"/>
                  </a:moveTo>
                  <a:lnTo>
                    <a:pt x="1278517" y="0"/>
                  </a:lnTo>
                  <a:lnTo>
                    <a:pt x="1278517" y="288140"/>
                  </a:lnTo>
                  <a:lnTo>
                    <a:pt x="0" y="288140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278517" cy="364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2"/>
                </a:lnSpc>
              </a:pPr>
              <a:r>
                <a:rPr lang="en-US" b="true" sz="31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Conditional Formatting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273393" y="2639047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5273393" y="6120678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5273393" y="8525497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765384" y="6652174"/>
            <a:ext cx="2895945" cy="2895945"/>
          </a:xfrm>
          <a:custGeom>
            <a:avLst/>
            <a:gdLst/>
            <a:ahLst/>
            <a:cxnLst/>
            <a:rect r="r" b="b" t="t" l="l"/>
            <a:pathLst>
              <a:path h="2895945" w="2895945">
                <a:moveTo>
                  <a:pt x="0" y="0"/>
                </a:moveTo>
                <a:lnTo>
                  <a:pt x="2895945" y="0"/>
                </a:lnTo>
                <a:lnTo>
                  <a:pt x="2895945" y="2895945"/>
                </a:lnTo>
                <a:lnTo>
                  <a:pt x="0" y="289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78038" y="1772334"/>
            <a:ext cx="10921127" cy="368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Bar/Column Chart → Compare marks or sales</a:t>
            </a:r>
          </a:p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Line Chart → Show trends over time (e.g., monthly growth)</a:t>
            </a:r>
          </a:p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Pie Chart → Show percentage contribution (e.g., subject-wise performance)</a:t>
            </a:r>
          </a:p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Scatter Plot → Show relationships between two variables</a:t>
            </a:r>
          </a:p>
          <a:p>
            <a:pPr algn="just" marL="0" indent="0" lvl="0">
              <a:lnSpc>
                <a:spcPts val="482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128584" y="7828546"/>
            <a:ext cx="10921127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Highlight values dynamically with colors/icons</a:t>
            </a:r>
          </a:p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Example: Heatmap to show high vs low scores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78038" y="5408208"/>
            <a:ext cx="10921127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Summarize large datasets</a:t>
            </a:r>
          </a:p>
          <a:p>
            <a:pPr algn="just" marL="647698" indent="-323849" lvl="1">
              <a:lnSpc>
                <a:spcPts val="482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</a:t>
            </a: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ample: Average marks per subject, sales per region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53801" y="380601"/>
            <a:ext cx="1092112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449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ools in Spreadsheets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25368" y="5412410"/>
            <a:ext cx="11485099" cy="4641443"/>
          </a:xfrm>
          <a:custGeom>
            <a:avLst/>
            <a:gdLst/>
            <a:ahLst/>
            <a:cxnLst/>
            <a:rect r="r" b="b" t="t" l="l"/>
            <a:pathLst>
              <a:path h="4641443" w="11485099">
                <a:moveTo>
                  <a:pt x="0" y="0"/>
                </a:moveTo>
                <a:lnTo>
                  <a:pt x="11485099" y="0"/>
                </a:lnTo>
                <a:lnTo>
                  <a:pt x="11485099" y="4641444"/>
                </a:lnTo>
                <a:lnTo>
                  <a:pt x="0" y="464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2" t="-36366" r="-10402" b="-20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506" y="209917"/>
            <a:ext cx="11062462" cy="5133608"/>
          </a:xfrm>
          <a:custGeom>
            <a:avLst/>
            <a:gdLst/>
            <a:ahLst/>
            <a:cxnLst/>
            <a:rect r="r" b="b" t="t" l="l"/>
            <a:pathLst>
              <a:path h="5133608" w="11062462">
                <a:moveTo>
                  <a:pt x="0" y="0"/>
                </a:moveTo>
                <a:lnTo>
                  <a:pt x="11062462" y="0"/>
                </a:lnTo>
                <a:lnTo>
                  <a:pt x="11062462" y="5133608"/>
                </a:lnTo>
                <a:lnTo>
                  <a:pt x="0" y="513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42" t="-11184" r="-11295" b="-108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1506" y="5917875"/>
            <a:ext cx="4339796" cy="4114800"/>
          </a:xfrm>
          <a:custGeom>
            <a:avLst/>
            <a:gdLst/>
            <a:ahLst/>
            <a:cxnLst/>
            <a:rect r="r" b="b" t="t" l="l"/>
            <a:pathLst>
              <a:path h="4114800" w="4339796">
                <a:moveTo>
                  <a:pt x="0" y="0"/>
                </a:moveTo>
                <a:lnTo>
                  <a:pt x="4339796" y="0"/>
                </a:lnTo>
                <a:lnTo>
                  <a:pt x="43397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43776" y="-260713"/>
            <a:ext cx="7554533" cy="11734612"/>
            <a:chOff x="0" y="0"/>
            <a:chExt cx="1989671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671" cy="3090597"/>
            </a:xfrm>
            <a:custGeom>
              <a:avLst/>
              <a:gdLst/>
              <a:ahLst/>
              <a:cxnLst/>
              <a:rect r="r" b="b" t="t" l="l"/>
              <a:pathLst>
                <a:path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908807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08184" y="524193"/>
            <a:ext cx="10571908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PivotTable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216" y="1179754"/>
            <a:ext cx="16569845" cy="8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PivotTable is a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f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unctionali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ty in Excel which helps you organize and analyze data.</a:t>
            </a:r>
          </a:p>
          <a:p>
            <a:pPr algn="just" marL="734058" indent="-367029" lvl="1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data that you use needs to be in tabular format.</a:t>
            </a:r>
          </a:p>
          <a:p>
            <a:pPr algn="just">
              <a:lnSpc>
                <a:spcPts val="3306"/>
              </a:lnSpc>
            </a:pPr>
          </a:p>
          <a:p>
            <a:pPr algn="just">
              <a:lnSpc>
                <a:spcPts val="5915"/>
              </a:lnSpc>
            </a:pP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How a PivotTable Works?</a:t>
            </a:r>
          </a:p>
          <a:p>
            <a:pPr algn="just" marL="734058" indent="-367029" lvl="1">
              <a:lnSpc>
                <a:spcPts val="591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Select Data Range – Highlight the dataset you want to analyze.</a:t>
            </a:r>
          </a:p>
          <a:p>
            <a:pPr algn="just" marL="734058" indent="-367029" lvl="1">
              <a:lnSpc>
                <a:spcPts val="591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Go to Insert → PivotTable.</a:t>
            </a:r>
          </a:p>
          <a:p>
            <a:pPr algn="just" marL="734058" indent="-367029" lvl="1">
              <a:lnSpc>
                <a:spcPts val="591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Choose Location – Select where to place the PivotTable (new or existing sheet).</a:t>
            </a:r>
          </a:p>
          <a:p>
            <a:pPr algn="just" marL="734058" indent="-367029" lvl="1">
              <a:lnSpc>
                <a:spcPts val="591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PivotTable Fields Pane – Drag and drop fields into areas:</a:t>
            </a:r>
          </a:p>
          <a:p>
            <a:pPr algn="just" marL="1468116" indent="-489372" lvl="2">
              <a:lnSpc>
                <a:spcPts val="5915"/>
              </a:lnSpc>
              <a:buAutoNum type="alphaL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Rows → for categories </a:t>
            </a:r>
          </a:p>
          <a:p>
            <a:pPr algn="just" marL="1468116" indent="-489372" lvl="2">
              <a:lnSpc>
                <a:spcPts val="5915"/>
              </a:lnSpc>
              <a:buAutoNum type="alphaL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Columns → for subcategories</a:t>
            </a:r>
          </a:p>
          <a:p>
            <a:pPr algn="just" marL="1468116" indent="-489372" lvl="2">
              <a:lnSpc>
                <a:spcPts val="5915"/>
              </a:lnSpc>
              <a:buAutoNum type="alphaL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Values → for numerical data (e.g., Sum, Count)</a:t>
            </a:r>
          </a:p>
          <a:p>
            <a:pPr algn="just" marL="1468116" indent="-489372" lvl="2">
              <a:lnSpc>
                <a:spcPts val="5915"/>
              </a:lnSpc>
              <a:buAutoNum type="alphaLcPeriod" startAt="1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Filters → to filter data dynamically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948" y="1617940"/>
            <a:ext cx="16569845" cy="628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1"/>
              </a:lnSpc>
            </a:pP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Col</a:t>
            </a: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umns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Colum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ns are vertical tabular data.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column includes the unique h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eader, which is on the top.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header defines which data you are seeing listed downwards.</a:t>
            </a: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example, 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D5(Sum of Attack) is the header.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D6(110), D7(100), D8(50), D9(73) and more.</a:t>
            </a:r>
          </a:p>
          <a:p>
            <a:pPr algn="just">
              <a:lnSpc>
                <a:spcPts val="554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01779" y="4543343"/>
            <a:ext cx="7766846" cy="5506473"/>
          </a:xfrm>
          <a:custGeom>
            <a:avLst/>
            <a:gdLst/>
            <a:ahLst/>
            <a:cxnLst/>
            <a:rect r="r" b="b" t="t" l="l"/>
            <a:pathLst>
              <a:path h="5506473" w="7766846">
                <a:moveTo>
                  <a:pt x="0" y="0"/>
                </a:moveTo>
                <a:lnTo>
                  <a:pt x="7766846" y="0"/>
                </a:lnTo>
                <a:lnTo>
                  <a:pt x="7766846" y="5506473"/>
                </a:lnTo>
                <a:lnTo>
                  <a:pt x="0" y="5506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0720" y="633096"/>
            <a:ext cx="12627332" cy="70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PivotTables have four main components: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9455" y="520645"/>
            <a:ext cx="16569845" cy="906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1"/>
              </a:lnSpc>
            </a:pP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Row</a:t>
            </a: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ow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 are horizontal tabular data.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 in the same row are related.</a:t>
            </a: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</a:p>
          <a:p>
            <a:pPr algn="just">
              <a:lnSpc>
                <a:spcPts val="5541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example, 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A8(Alakazam) is the Pokemon name.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B8(500), C8(55), D8(50), E8(45) represents the pokemons stats.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type of stats is read in the header in the columns.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935953" y="538726"/>
            <a:ext cx="9983522" cy="6713918"/>
          </a:xfrm>
          <a:custGeom>
            <a:avLst/>
            <a:gdLst/>
            <a:ahLst/>
            <a:cxnLst/>
            <a:rect r="r" b="b" t="t" l="l"/>
            <a:pathLst>
              <a:path h="6713918" w="9983522">
                <a:moveTo>
                  <a:pt x="0" y="0"/>
                </a:moveTo>
                <a:lnTo>
                  <a:pt x="9983522" y="0"/>
                </a:lnTo>
                <a:lnTo>
                  <a:pt x="9983522" y="6713919"/>
                </a:lnTo>
                <a:lnTo>
                  <a:pt x="0" y="6713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9455" y="463495"/>
            <a:ext cx="16569845" cy="350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1"/>
              </a:lnSpc>
            </a:pP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Filter</a:t>
            </a: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Filters in PivotTables allow you to display only the 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specific data you want to analyze by including or excluding certain values.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They help narrow down large datasets, making reports more focused and easier to interpret.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962763" y="3354620"/>
            <a:ext cx="9866485" cy="6635211"/>
          </a:xfrm>
          <a:custGeom>
            <a:avLst/>
            <a:gdLst/>
            <a:ahLst/>
            <a:cxnLst/>
            <a:rect r="r" b="b" t="t" l="l"/>
            <a:pathLst>
              <a:path h="6635211" w="9866485">
                <a:moveTo>
                  <a:pt x="0" y="0"/>
                </a:moveTo>
                <a:lnTo>
                  <a:pt x="9866485" y="0"/>
                </a:lnTo>
                <a:lnTo>
                  <a:pt x="9866485" y="6635211"/>
                </a:lnTo>
                <a:lnTo>
                  <a:pt x="0" y="6635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405" y="1095375"/>
            <a:ext cx="6545409" cy="8890200"/>
          </a:xfrm>
          <a:custGeom>
            <a:avLst/>
            <a:gdLst/>
            <a:ahLst/>
            <a:cxnLst/>
            <a:rect r="r" b="b" t="t" l="l"/>
            <a:pathLst>
              <a:path h="8890200" w="6545409">
                <a:moveTo>
                  <a:pt x="0" y="0"/>
                </a:moveTo>
                <a:lnTo>
                  <a:pt x="6545409" y="0"/>
                </a:lnTo>
                <a:lnTo>
                  <a:pt x="6545409" y="8890200"/>
                </a:lnTo>
                <a:lnTo>
                  <a:pt x="0" y="889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6437" y="295655"/>
            <a:ext cx="1954411" cy="6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Filte</a:t>
            </a: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 view: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08839" y="1897824"/>
            <a:ext cx="9190047" cy="628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example, </a:t>
            </a:r>
          </a:p>
          <a:p>
            <a:pPr algn="l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There are two filters enabled: Generation and Type 1.</a:t>
            </a:r>
          </a:p>
          <a:p>
            <a:pPr algn="l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filters are set to Generation (1) and Type (Psychic).</a:t>
            </a:r>
          </a:p>
          <a:p>
            <a:pPr algn="l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We will only see Generation 1 pokemon that is Type 1, Psychic.</a:t>
            </a:r>
          </a:p>
          <a:p>
            <a:pPr algn="l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All pokemon in the table below the filter are of this generation and type.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772" y="3609652"/>
            <a:ext cx="9485116" cy="6378741"/>
          </a:xfrm>
          <a:custGeom>
            <a:avLst/>
            <a:gdLst/>
            <a:ahLst/>
            <a:cxnLst/>
            <a:rect r="r" b="b" t="t" l="l"/>
            <a:pathLst>
              <a:path h="6378741" w="9485116">
                <a:moveTo>
                  <a:pt x="0" y="0"/>
                </a:moveTo>
                <a:lnTo>
                  <a:pt x="9485116" y="0"/>
                </a:lnTo>
                <a:lnTo>
                  <a:pt x="9485116" y="6378741"/>
                </a:lnTo>
                <a:lnTo>
                  <a:pt x="0" y="6378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4422" y="3233859"/>
            <a:ext cx="7494629" cy="6754535"/>
          </a:xfrm>
          <a:custGeom>
            <a:avLst/>
            <a:gdLst/>
            <a:ahLst/>
            <a:cxnLst/>
            <a:rect r="r" b="b" t="t" l="l"/>
            <a:pathLst>
              <a:path h="6754535" w="7494629">
                <a:moveTo>
                  <a:pt x="0" y="0"/>
                </a:moveTo>
                <a:lnTo>
                  <a:pt x="7494629" y="0"/>
                </a:lnTo>
                <a:lnTo>
                  <a:pt x="7494629" y="6754534"/>
                </a:lnTo>
                <a:lnTo>
                  <a:pt x="0" y="6754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772" y="252682"/>
            <a:ext cx="16569845" cy="280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41"/>
              </a:lnSpc>
            </a:pP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Value</a:t>
            </a:r>
            <a:r>
              <a:rPr lang="en-US" sz="33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s: 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define how you present the </a:t>
            </a: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data, how Summarize &amp; Show values.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example, values are defined for the range B5:E5.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range B5:E5 has all the same value setting: Sum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Sum is summarized in the range B14:E14.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2551" y="3658208"/>
            <a:ext cx="16820997" cy="6244795"/>
          </a:xfrm>
          <a:custGeom>
            <a:avLst/>
            <a:gdLst/>
            <a:ahLst/>
            <a:cxnLst/>
            <a:rect r="r" b="b" t="t" l="l"/>
            <a:pathLst>
              <a:path h="6244795" w="16820997">
                <a:moveTo>
                  <a:pt x="0" y="0"/>
                </a:moveTo>
                <a:lnTo>
                  <a:pt x="16820998" y="0"/>
                </a:lnTo>
                <a:lnTo>
                  <a:pt x="16820998" y="6244796"/>
                </a:lnTo>
                <a:lnTo>
                  <a:pt x="0" y="6244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455" y="1424532"/>
            <a:ext cx="16569845" cy="210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TablePivot is displayed how by your settings.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PivotTable Fields panel is used to change how you see the data.</a:t>
            </a:r>
          </a:p>
          <a:p>
            <a:pPr algn="just" marL="734058" indent="-367029" lvl="1">
              <a:lnSpc>
                <a:spcPts val="554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settings can be separated in two: Fields and Layout.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9455" y="562293"/>
            <a:ext cx="10571908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Fields and layout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772" y="3536627"/>
            <a:ext cx="17470279" cy="5787030"/>
          </a:xfrm>
          <a:custGeom>
            <a:avLst/>
            <a:gdLst/>
            <a:ahLst/>
            <a:cxnLst/>
            <a:rect r="r" b="b" t="t" l="l"/>
            <a:pathLst>
              <a:path h="5787030" w="17470279">
                <a:moveTo>
                  <a:pt x="0" y="0"/>
                </a:moveTo>
                <a:lnTo>
                  <a:pt x="17470279" y="0"/>
                </a:lnTo>
                <a:lnTo>
                  <a:pt x="17470279" y="5787030"/>
                </a:lnTo>
                <a:lnTo>
                  <a:pt x="0" y="5787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772" y="319357"/>
            <a:ext cx="17470279" cy="272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8"/>
              </a:lnSpc>
            </a:pPr>
            <a:r>
              <a:rPr lang="en-US" sz="32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Field</a:t>
            </a:r>
            <a:r>
              <a:rPr lang="en-US" sz="32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 : </a:t>
            </a:r>
          </a:p>
          <a:p>
            <a:pPr algn="just" marL="712468" indent="-356234" lvl="1">
              <a:lnSpc>
                <a:spcPts val="5378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</a:t>
            </a: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he checkboxes can be selected or unselected to display or change property of the data.</a:t>
            </a:r>
          </a:p>
          <a:p>
            <a:pPr algn="just" marL="712468" indent="-356234" lvl="1">
              <a:lnSpc>
                <a:spcPts val="5378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example, the checkbox for Speed is selected.</a:t>
            </a:r>
          </a:p>
          <a:p>
            <a:pPr algn="just" marL="712468" indent="-356234" lvl="1">
              <a:lnSpc>
                <a:spcPts val="5378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Speed is now displayed in the table.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0942" y="1719255"/>
            <a:ext cx="7781655" cy="8169716"/>
          </a:xfrm>
          <a:custGeom>
            <a:avLst/>
            <a:gdLst/>
            <a:ahLst/>
            <a:cxnLst/>
            <a:rect r="r" b="b" t="t" l="l"/>
            <a:pathLst>
              <a:path h="8169716" w="7781655">
                <a:moveTo>
                  <a:pt x="0" y="0"/>
                </a:moveTo>
                <a:lnTo>
                  <a:pt x="7781655" y="0"/>
                </a:lnTo>
                <a:lnTo>
                  <a:pt x="7781655" y="8169716"/>
                </a:lnTo>
                <a:lnTo>
                  <a:pt x="0" y="816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1821" y="621030"/>
            <a:ext cx="12164854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You can click the downwards arrow to change how the data is presented.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8954" y="1833263"/>
            <a:ext cx="7771587" cy="8159146"/>
          </a:xfrm>
          <a:custGeom>
            <a:avLst/>
            <a:gdLst/>
            <a:ahLst/>
            <a:cxnLst/>
            <a:rect r="r" b="b" t="t" l="l"/>
            <a:pathLst>
              <a:path h="8159146" w="7771587">
                <a:moveTo>
                  <a:pt x="0" y="0"/>
                </a:moveTo>
                <a:lnTo>
                  <a:pt x="7771587" y="0"/>
                </a:lnTo>
                <a:lnTo>
                  <a:pt x="7771587" y="8159146"/>
                </a:lnTo>
                <a:lnTo>
                  <a:pt x="0" y="8159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7721" y="361188"/>
            <a:ext cx="17470279" cy="475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8"/>
              </a:lnSpc>
            </a:pPr>
            <a:r>
              <a:rPr lang="en-US" sz="3299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Layout:</a:t>
            </a:r>
          </a:p>
          <a:p>
            <a:pPr algn="just" marL="712468" indent="-356234" lvl="1">
              <a:lnSpc>
                <a:spcPts val="5378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Drag and drop fi</a:t>
            </a: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elds to the boxes to the right to display data in the table.</a:t>
            </a:r>
          </a:p>
          <a:p>
            <a:pPr algn="just" marL="712468" indent="-356234" lvl="1">
              <a:lnSpc>
                <a:spcPts val="5378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Four main components:</a:t>
            </a:r>
          </a:p>
          <a:p>
            <a:pPr algn="just" marL="1424937" indent="-474979" lvl="2">
              <a:lnSpc>
                <a:spcPts val="5378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Filters</a:t>
            </a:r>
          </a:p>
          <a:p>
            <a:pPr algn="just" marL="1424937" indent="-474979" lvl="2">
              <a:lnSpc>
                <a:spcPts val="5378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Rows</a:t>
            </a:r>
          </a:p>
          <a:p>
            <a:pPr algn="just" marL="1424937" indent="-474979" lvl="2">
              <a:lnSpc>
                <a:spcPts val="5378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Columns</a:t>
            </a:r>
          </a:p>
          <a:p>
            <a:pPr algn="just" marL="1424937" indent="-474979" lvl="2">
              <a:lnSpc>
                <a:spcPts val="5378"/>
              </a:lnSpc>
              <a:buFont typeface="Arial"/>
              <a:buChar char="⚬"/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Values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480" y="2144726"/>
            <a:ext cx="17363589" cy="5729984"/>
          </a:xfrm>
          <a:custGeom>
            <a:avLst/>
            <a:gdLst/>
            <a:ahLst/>
            <a:cxnLst/>
            <a:rect r="r" b="b" t="t" l="l"/>
            <a:pathLst>
              <a:path h="5729984" w="17363589">
                <a:moveTo>
                  <a:pt x="0" y="0"/>
                </a:moveTo>
                <a:lnTo>
                  <a:pt x="17363590" y="0"/>
                </a:lnTo>
                <a:lnTo>
                  <a:pt x="17363590" y="5729984"/>
                </a:lnTo>
                <a:lnTo>
                  <a:pt x="0" y="5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129" y="828675"/>
            <a:ext cx="10368439" cy="6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</a:t>
            </a:r>
            <a:r>
              <a:rPr lang="en-US" sz="32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this example, we will drag and drop Sp. def to Values.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8012" y="3229897"/>
            <a:ext cx="6497856" cy="6742263"/>
          </a:xfrm>
          <a:custGeom>
            <a:avLst/>
            <a:gdLst/>
            <a:ahLst/>
            <a:cxnLst/>
            <a:rect r="r" b="b" t="t" l="l"/>
            <a:pathLst>
              <a:path h="6742263" w="6497856">
                <a:moveTo>
                  <a:pt x="0" y="0"/>
                </a:moveTo>
                <a:lnTo>
                  <a:pt x="6497855" y="0"/>
                </a:lnTo>
                <a:lnTo>
                  <a:pt x="6497855" y="6742263"/>
                </a:lnTo>
                <a:lnTo>
                  <a:pt x="0" y="6742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7649" y="457348"/>
            <a:ext cx="14645878" cy="261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7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Sp. Def is now displayed in the table.</a:t>
            </a:r>
          </a:p>
          <a:p>
            <a:pPr algn="just" marL="690877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settings of the fields that y</a:t>
            </a: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ou have moved to the right side can be changed.</a:t>
            </a:r>
          </a:p>
          <a:p>
            <a:pPr algn="just" marL="690877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Click the downwards arrow to access the settings.</a:t>
            </a:r>
          </a:p>
          <a:p>
            <a:pPr algn="just" marL="690877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This is possible in the four areas (Filters, rows, columns and, values).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56049" y="5854733"/>
            <a:ext cx="14744962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99"/>
              </a:lnSpc>
            </a:pPr>
            <a:r>
              <a:rPr lang="en-US" b="true" sz="9999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DAGzQL51ZcE</dc:identifier>
  <dcterms:modified xsi:type="dcterms:W3CDTF">2011-08-01T06:04:30Z</dcterms:modified>
  <cp:revision>1</cp:revision>
  <dc:title>CT Data analysis spreadsheet</dc:title>
</cp:coreProperties>
</file>